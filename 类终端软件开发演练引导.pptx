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67" r:id="rId7"/>
    <p:sldId id="270" r:id="rId8"/>
    <p:sldId id="268" r:id="rId9"/>
    <p:sldId id="259" r:id="rId10"/>
    <p:sldId id="271" r:id="rId11"/>
    <p:sldId id="260" r:id="rId12"/>
    <p:sldId id="272" r:id="rId13"/>
    <p:sldId id="261" r:id="rId14"/>
    <p:sldId id="262" r:id="rId15"/>
    <p:sldId id="263" r:id="rId16"/>
    <p:sldId id="269" r:id="rId17"/>
    <p:sldId id="264" r:id="rId18"/>
    <p:sldId id="265" r:id="rId19"/>
    <p:sldId id="266" r:id="rId20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1529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A470CF9F-6DEC-4307-B5B8-93CBF95B8A7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57950" y="4767263"/>
            <a:ext cx="2057400" cy="273844"/>
          </a:xfrm>
        </p:spPr>
        <p:txBody>
          <a:bodyPr/>
          <a:lstStyle/>
          <a:p>
            <a:fld id="{FB5D3B8C-A338-457E-A0FF-C8A07BF632C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12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8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27.png"/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1.png"/><Relationship Id="rId1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image" Target="../media/image32.pn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image" Target="../media/image44.png"/><Relationship Id="rId7" Type="http://schemas.openxmlformats.org/officeDocument/2006/relationships/image" Target="../media/image43.png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2" Type="http://schemas.openxmlformats.org/officeDocument/2006/relationships/notesSlide" Target="../notesSlides/notesSlide11.xml"/><Relationship Id="rId11" Type="http://schemas.openxmlformats.org/officeDocument/2006/relationships/slideLayout" Target="../slideLayouts/slideLayout1.xml"/><Relationship Id="rId10" Type="http://schemas.openxmlformats.org/officeDocument/2006/relationships/image" Target="../media/image46.png"/><Relationship Id="rId1" Type="http://schemas.openxmlformats.org/officeDocument/2006/relationships/image" Target="../media/image37.png"/></Relationships>
</file>

<file path=ppt/slides/_rels/slide1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2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image" Target="../media/image4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8694" y="1096928"/>
            <a:ext cx="1160552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PROJECT: AI-CODING-WS</a:t>
            </a:r>
            <a:endParaRPr lang="en-US" sz="725" dirty="0"/>
          </a:p>
        </p:txBody>
      </p:sp>
      <p:sp>
        <p:nvSpPr>
          <p:cNvPr id="4" name="Text 1"/>
          <p:cNvSpPr/>
          <p:nvPr/>
        </p:nvSpPr>
        <p:spPr>
          <a:xfrm>
            <a:off x="2282121" y="1096928"/>
            <a:ext cx="74423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//</a:t>
            </a:r>
            <a:endParaRPr lang="en-US" sz="725" dirty="0"/>
          </a:p>
        </p:txBody>
      </p:sp>
      <p:sp>
        <p:nvSpPr>
          <p:cNvPr id="5" name="Text 2"/>
          <p:cNvSpPr/>
          <p:nvPr/>
        </p:nvSpPr>
        <p:spPr>
          <a:xfrm>
            <a:off x="2499420" y="1096928"/>
            <a:ext cx="814025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DATE: 2026-01-15</a:t>
            </a:r>
            <a:endParaRPr lang="en-US" sz="725" dirty="0"/>
          </a:p>
        </p:txBody>
      </p:sp>
      <p:sp>
        <p:nvSpPr>
          <p:cNvPr id="6" name="Text 3"/>
          <p:cNvSpPr/>
          <p:nvPr/>
        </p:nvSpPr>
        <p:spPr>
          <a:xfrm>
            <a:off x="3456319" y="1096928"/>
            <a:ext cx="74423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//</a:t>
            </a:r>
            <a:endParaRPr lang="en-US" sz="725" dirty="0"/>
          </a:p>
        </p:txBody>
      </p:sp>
      <p:sp>
        <p:nvSpPr>
          <p:cNvPr id="7" name="Text 4"/>
          <p:cNvSpPr/>
          <p:nvPr/>
        </p:nvSpPr>
        <p:spPr>
          <a:xfrm>
            <a:off x="3673618" y="1096928"/>
            <a:ext cx="371866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REV: 1.0</a:t>
            </a:r>
            <a:endParaRPr lang="en-US" sz="725" dirty="0"/>
          </a:p>
        </p:txBody>
      </p:sp>
      <p:sp>
        <p:nvSpPr>
          <p:cNvPr id="8" name="Text 5"/>
          <p:cNvSpPr/>
          <p:nvPr/>
        </p:nvSpPr>
        <p:spPr>
          <a:xfrm>
            <a:off x="857250" y="1518410"/>
            <a:ext cx="7429500" cy="113155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730" b="1" kern="0" spc="-1" dirty="0">
                <a:solidFill>
                  <a:srgbClr val="0F172A"/>
                </a:solidFill>
              </a:rPr>
              <a:t>AI帮你写代码</a:t>
            </a:r>
            <a:r>
              <a:rPr lang="en-US" sz="3730" b="1" kern="0" spc="-1" dirty="0">
                <a:solidFill>
                  <a:srgbClr val="0F172A"/>
                </a:solidFill>
              </a:rPr>
              <a:t>
</a:t>
            </a:r>
            <a:r>
              <a:rPr lang="en-US" sz="3730" b="1" kern="0" spc="-1" dirty="0">
                <a:solidFill>
                  <a:srgbClr val="0F172A"/>
                </a:solidFill>
              </a:rPr>
              <a:t>终端定制类需求实战演练</a:t>
            </a:r>
            <a:endParaRPr lang="en-US" sz="3730" dirty="0"/>
          </a:p>
        </p:txBody>
      </p:sp>
      <p:sp>
        <p:nvSpPr>
          <p:cNvPr id="9" name="Text 6"/>
          <p:cNvSpPr/>
          <p:nvPr/>
        </p:nvSpPr>
        <p:spPr>
          <a:xfrm>
            <a:off x="857250" y="2821418"/>
            <a:ext cx="7429500" cy="33218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5" dirty="0">
                <a:solidFill>
                  <a:srgbClr val="2563EB"/>
                </a:solidFill>
              </a:rPr>
              <a:t>基于lwIP开源项目的blksize功能实现</a:t>
            </a:r>
            <a:endParaRPr lang="en-US" sz="1705" dirty="0"/>
          </a:p>
        </p:txBody>
      </p:sp>
      <p:sp>
        <p:nvSpPr>
          <p:cNvPr id="10" name="Text 7"/>
          <p:cNvSpPr/>
          <p:nvPr/>
        </p:nvSpPr>
        <p:spPr>
          <a:xfrm>
            <a:off x="857250" y="3439353"/>
            <a:ext cx="5715000" cy="607219"/>
          </a:xfrm>
          <a:prstGeom prst="rect">
            <a:avLst/>
          </a:prstGeom>
          <a:noFill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75569"/>
                </a:solidFill>
              </a:rPr>
              <a:t>本次演练将展示如何使用AI辅助完成路由器终端的协议参数定制需求，</a:t>
            </a:r>
            <a:r>
              <a:rPr lang="en-US" sz="1050" dirty="0">
                <a:solidFill>
                  <a:srgbClr val="475569"/>
                </a:solidFill>
              </a:rPr>
              <a:t>
</a:t>
            </a:r>
            <a:r>
              <a:rPr lang="en-US" sz="1050" dirty="0">
                <a:solidFill>
                  <a:srgbClr val="475569"/>
                </a:solidFill>
              </a:rPr>
              <a:t> 通过实际案例演示从协议层到界面的全流程开发。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7382870" y="4339828"/>
            <a:ext cx="1189630" cy="2321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800"/>
              </a:lnSpc>
              <a:buNone/>
            </a:pPr>
            <a:r>
              <a:rPr lang="en-US" sz="620" dirty="0">
                <a:solidFill>
                  <a:srgbClr val="94A3B8"/>
                </a:solidFill>
              </a:rPr>
              <a:t>SYSTEM STATUS: READY</a:t>
            </a:r>
            <a:r>
              <a:rPr lang="en-US" sz="620" dirty="0">
                <a:solidFill>
                  <a:srgbClr val="94A3B8"/>
                </a:solidFill>
              </a:rPr>
              <a:t>
</a:t>
            </a:r>
            <a:r>
              <a:rPr lang="en-US" sz="620" dirty="0">
                <a:solidFill>
                  <a:srgbClr val="94A3B8"/>
                </a:solidFill>
              </a:rPr>
              <a:t> MODULE: WORKSHOP_INTRO</a:t>
            </a:r>
            <a:endParaRPr lang="en-US" sz="6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57213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971550"/>
            <a:ext cx="8001000" cy="142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2075259" cy="4357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0" b="1" dirty="0">
                <a:solidFill>
                  <a:srgbClr val="0F172A"/>
                </a:solidFill>
              </a:rPr>
              <a:t>演练背景与目标</a:t>
            </a:r>
            <a:endParaRPr lang="en-US" sz="2120" dirty="0"/>
          </a:p>
        </p:txBody>
      </p:sp>
      <p:sp>
        <p:nvSpPr>
          <p:cNvPr id="6" name="Text 3"/>
          <p:cNvSpPr/>
          <p:nvPr/>
        </p:nvSpPr>
        <p:spPr>
          <a:xfrm>
            <a:off x="7447555" y="728663"/>
            <a:ext cx="1124945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SECTION 01 // CONTEXT</a:t>
            </a:r>
            <a:endParaRPr lang="en-US" sz="725" dirty="0"/>
          </a:p>
        </p:txBody>
      </p:sp>
      <p:sp>
        <p:nvSpPr>
          <p:cNvPr id="7" name="Shape 4"/>
          <p:cNvSpPr/>
          <p:nvPr/>
        </p:nvSpPr>
        <p:spPr>
          <a:xfrm>
            <a:off x="571500" y="1328738"/>
            <a:ext cx="2500313" cy="3386138"/>
          </a:xfrm>
          <a:prstGeom prst="rect">
            <a:avLst/>
          </a:prstGeom>
          <a:solidFill>
            <a:srgbClr val="2563EB">
              <a:alpha val="5000"/>
            </a:srgbClr>
          </a:solidFill>
          <a:ln w="18288">
            <a:solidFill>
              <a:srgbClr val="2563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14375" y="1243013"/>
            <a:ext cx="822954" cy="116086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9" name="Text 6"/>
          <p:cNvSpPr/>
          <p:nvPr/>
        </p:nvSpPr>
        <p:spPr>
          <a:xfrm>
            <a:off x="714375" y="1243013"/>
            <a:ext cx="822954" cy="116086"/>
          </a:xfrm>
          <a:prstGeom prst="rect">
            <a:avLst/>
          </a:prstGeom>
          <a:noFill/>
        </p:spPr>
        <p:txBody>
          <a:bodyPr wrap="none" lIns="85090" tIns="0" rIns="8509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2563EB"/>
                </a:solidFill>
              </a:rPr>
              <a:t>TARGET_OBJECTIVE</a:t>
            </a:r>
            <a:endParaRPr lang="en-US" sz="585" dirty="0"/>
          </a:p>
        </p:txBody>
      </p:sp>
      <p:sp>
        <p:nvSpPr>
          <p:cNvPr id="10" name="Text 7"/>
          <p:cNvSpPr/>
          <p:nvPr/>
        </p:nvSpPr>
        <p:spPr>
          <a:xfrm>
            <a:off x="785813" y="1543050"/>
            <a:ext cx="2071688" cy="22287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95" b="1" dirty="0">
                <a:solidFill>
                  <a:srgbClr val="2563EB"/>
                </a:solidFill>
              </a:rPr>
              <a:t>核心目标</a:t>
            </a:r>
            <a:endParaRPr lang="en-US" sz="1195" dirty="0"/>
          </a:p>
        </p:txBody>
      </p:sp>
      <p:sp>
        <p:nvSpPr>
          <p:cNvPr id="11" name="Text 8"/>
          <p:cNvSpPr/>
          <p:nvPr/>
        </p:nvSpPr>
        <p:spPr>
          <a:xfrm>
            <a:off x="785813" y="1908804"/>
            <a:ext cx="2071688" cy="54859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334155"/>
                </a:solidFill>
              </a:rPr>
              <a:t>通过AI辅助在lwIP开源项目中实现TFTP协议的blksize参数定制功能，并将其集成到路由器终端的Web管理界面。</a:t>
            </a:r>
            <a:endParaRPr lang="en-US" sz="835" dirty="0"/>
          </a:p>
        </p:txBody>
      </p:sp>
      <p:sp>
        <p:nvSpPr>
          <p:cNvPr id="12" name="Text 9"/>
          <p:cNvSpPr/>
          <p:nvPr/>
        </p:nvSpPr>
        <p:spPr>
          <a:xfrm>
            <a:off x="785813" y="2821725"/>
            <a:ext cx="2071688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0" dirty="0">
                <a:solidFill>
                  <a:srgbClr val="2563EB"/>
                </a:solidFill>
              </a:rPr>
              <a:t>KEY_METRICS</a:t>
            </a:r>
            <a:endParaRPr lang="en-US" sz="620" dirty="0"/>
          </a:p>
        </p:txBody>
      </p:sp>
      <p:sp>
        <p:nvSpPr>
          <p:cNvPr id="13" name="Text 10"/>
          <p:cNvSpPr/>
          <p:nvPr/>
        </p:nvSpPr>
        <p:spPr>
          <a:xfrm>
            <a:off x="785813" y="3009249"/>
            <a:ext cx="2071688" cy="350044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810" b="1" dirty="0">
                <a:solidFill>
                  <a:srgbClr val="0F172A"/>
                </a:solidFill>
              </a:rPr>
              <a:t>3x</a:t>
            </a:r>
            <a:endParaRPr lang="en-US" sz="1810" dirty="0"/>
          </a:p>
        </p:txBody>
      </p:sp>
      <p:sp>
        <p:nvSpPr>
          <p:cNvPr id="14" name="Text 11"/>
          <p:cNvSpPr/>
          <p:nvPr/>
        </p:nvSpPr>
        <p:spPr>
          <a:xfrm>
            <a:off x="785813" y="3359293"/>
            <a:ext cx="2071688" cy="14466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传输效率提升预期</a:t>
            </a:r>
            <a:endParaRPr lang="en-US" sz="725" dirty="0"/>
          </a:p>
        </p:txBody>
      </p:sp>
      <p:sp>
        <p:nvSpPr>
          <p:cNvPr id="15" name="Shape 12"/>
          <p:cNvSpPr/>
          <p:nvPr/>
        </p:nvSpPr>
        <p:spPr>
          <a:xfrm>
            <a:off x="3500438" y="1328738"/>
            <a:ext cx="285750" cy="285750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945" y="1407319"/>
            <a:ext cx="160734" cy="12858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929063" y="1328738"/>
            <a:ext cx="4643438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F172A"/>
                </a:solidFill>
              </a:rPr>
              <a:t>业务场景</a:t>
            </a:r>
            <a:endParaRPr lang="en-US" sz="985" dirty="0"/>
          </a:p>
        </p:txBody>
      </p:sp>
      <p:sp>
        <p:nvSpPr>
          <p:cNvPr id="18" name="Text 14"/>
          <p:cNvSpPr/>
          <p:nvPr/>
        </p:nvSpPr>
        <p:spPr>
          <a:xfrm>
            <a:off x="3929063" y="1593056"/>
            <a:ext cx="4643438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</a:rPr>
              <a:t>路由器终端需优化TFTP文件传输性能。默认512字节块大小在以太网环境下效率低，目标是支持RFC 2348协商，将块大小提升至1468字节。</a:t>
            </a:r>
            <a:endParaRPr lang="en-US" sz="835" dirty="0"/>
          </a:p>
        </p:txBody>
      </p:sp>
      <p:sp>
        <p:nvSpPr>
          <p:cNvPr id="19" name="Shape 15"/>
          <p:cNvSpPr/>
          <p:nvPr/>
        </p:nvSpPr>
        <p:spPr>
          <a:xfrm>
            <a:off x="3500438" y="2150269"/>
            <a:ext cx="285750" cy="285750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7055" y="2228850"/>
            <a:ext cx="112514" cy="12858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3929063" y="2150269"/>
            <a:ext cx="4643438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F172A"/>
                </a:solidFill>
              </a:rPr>
              <a:t>技术挑战</a:t>
            </a:r>
            <a:endParaRPr lang="en-US" sz="985" dirty="0"/>
          </a:p>
        </p:txBody>
      </p:sp>
      <p:sp>
        <p:nvSpPr>
          <p:cNvPr id="22" name="Text 17"/>
          <p:cNvSpPr/>
          <p:nvPr/>
        </p:nvSpPr>
        <p:spPr>
          <a:xfrm>
            <a:off x="3929063" y="2414588"/>
            <a:ext cx="4643438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</a:rPr>
              <a:t>跨领域开发：需同时完成C语言协议栈底层开发、单元测试验证以及前端Web界面集成，涉及全栈技术栈。</a:t>
            </a:r>
            <a:endParaRPr lang="en-US" sz="835" dirty="0"/>
          </a:p>
        </p:txBody>
      </p:sp>
      <p:sp>
        <p:nvSpPr>
          <p:cNvPr id="23" name="Shape 18"/>
          <p:cNvSpPr/>
          <p:nvPr/>
        </p:nvSpPr>
        <p:spPr>
          <a:xfrm>
            <a:off x="3500438" y="2971800"/>
            <a:ext cx="285750" cy="285750"/>
          </a:xfrm>
          <a:prstGeom prst="rect">
            <a:avLst/>
          </a:prstGeom>
          <a:solidFill>
            <a:srgbClr val="F1F5F9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62945" y="3050381"/>
            <a:ext cx="160734" cy="128588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929063" y="2971800"/>
            <a:ext cx="4643438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0F172A"/>
                </a:solidFill>
              </a:rPr>
              <a:t>AI的价值</a:t>
            </a:r>
            <a:endParaRPr lang="en-US" sz="985" dirty="0"/>
          </a:p>
        </p:txBody>
      </p:sp>
      <p:sp>
        <p:nvSpPr>
          <p:cNvPr id="26" name="Text 20"/>
          <p:cNvSpPr/>
          <p:nvPr/>
        </p:nvSpPr>
        <p:spPr>
          <a:xfrm>
            <a:off x="3929063" y="3236119"/>
            <a:ext cx="4643438" cy="34290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</a:rPr>
              <a:t>加速开发流程：AI理解开源代码结构，参考历史PR生成协议代码，自动生成测试用例，并协助完成前后端代码集成。</a:t>
            </a:r>
            <a:endParaRPr lang="en-US" sz="83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85750" y="428625"/>
            <a:ext cx="8572500" cy="557213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285750" y="971550"/>
            <a:ext cx="8572500" cy="142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2"/>
          <p:cNvSpPr/>
          <p:nvPr/>
        </p:nvSpPr>
        <p:spPr>
          <a:xfrm>
            <a:off x="285750" y="428625"/>
            <a:ext cx="3506074" cy="4357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0" b="1" dirty="0">
                <a:solidFill>
                  <a:srgbClr val="0F172A"/>
                </a:solidFill>
              </a:rPr>
              <a:t>lwIP项目与TFTP协议简介</a:t>
            </a:r>
            <a:endParaRPr lang="en-US" sz="2120" dirty="0"/>
          </a:p>
        </p:txBody>
      </p:sp>
      <p:sp>
        <p:nvSpPr>
          <p:cNvPr id="6" name="Text 3"/>
          <p:cNvSpPr/>
          <p:nvPr/>
        </p:nvSpPr>
        <p:spPr>
          <a:xfrm>
            <a:off x="7791794" y="728663"/>
            <a:ext cx="1066456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SECTION 02 // THEORY</a:t>
            </a:r>
            <a:endParaRPr lang="en-US" sz="725" dirty="0"/>
          </a:p>
        </p:txBody>
      </p:sp>
      <p:sp>
        <p:nvSpPr>
          <p:cNvPr id="7" name="Shape 4"/>
          <p:cNvSpPr/>
          <p:nvPr/>
        </p:nvSpPr>
        <p:spPr>
          <a:xfrm>
            <a:off x="285750" y="1114425"/>
            <a:ext cx="4143375" cy="1807369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475" y="1226046"/>
            <a:ext cx="142875" cy="1428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5788" y="1200150"/>
            <a:ext cx="1370623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2563EB"/>
                </a:solidFill>
              </a:rPr>
              <a:t>lwIP Protocol Stack</a:t>
            </a:r>
            <a:endParaRPr lang="en-US" sz="985" dirty="0"/>
          </a:p>
        </p:txBody>
      </p:sp>
      <p:sp>
        <p:nvSpPr>
          <p:cNvPr id="10" name="Text 6"/>
          <p:cNvSpPr/>
          <p:nvPr/>
        </p:nvSpPr>
        <p:spPr>
          <a:xfrm>
            <a:off x="371475" y="1501973"/>
            <a:ext cx="3964781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lwIP (lightweight IP) 是专为嵌入式系统设计的开源TCP/IP协议栈。它在减少内存使用和代码大小的同时，提供了完整的TCP/IP功能，广泛应用于物联网设备。</a:t>
            </a:r>
            <a:endParaRPr lang="en-US" sz="78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1475" y="1930598"/>
            <a:ext cx="3964781" cy="85725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707731" y="1114425"/>
            <a:ext cx="4150519" cy="1793081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0600" y="1226046"/>
            <a:ext cx="160734" cy="14287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032772" y="1200150"/>
            <a:ext cx="966862" cy="19466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97316"/>
                </a:solidFill>
              </a:rPr>
              <a:t>TFTP Protocol</a:t>
            </a:r>
            <a:endParaRPr lang="en-US" sz="985" dirty="0"/>
          </a:p>
        </p:txBody>
      </p:sp>
      <p:sp>
        <p:nvSpPr>
          <p:cNvPr id="15" name="Text 9"/>
          <p:cNvSpPr/>
          <p:nvPr/>
        </p:nvSpPr>
        <p:spPr>
          <a:xfrm>
            <a:off x="4800600" y="1501973"/>
            <a:ext cx="3971925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TFTP (Trivial File Transfer Protocol) 是简单的文件传输协议。默认使用512字节块大小（RFC 1350），这是80年代的设计，在现代网络中效率低下。</a:t>
            </a:r>
            <a:endParaRPr lang="en-US" sz="780" dirty="0"/>
          </a:p>
        </p:txBody>
      </p:sp>
      <p:sp>
        <p:nvSpPr>
          <p:cNvPr id="16" name="Shape 10"/>
          <p:cNvSpPr/>
          <p:nvPr/>
        </p:nvSpPr>
        <p:spPr>
          <a:xfrm>
            <a:off x="4800600" y="1930598"/>
            <a:ext cx="3971925" cy="330398"/>
          </a:xfrm>
          <a:prstGeom prst="rect">
            <a:avLst/>
          </a:prstGeom>
          <a:solidFill>
            <a:srgbClr val="FFF7ED"/>
          </a:solidFill>
          <a:ln w="9144">
            <a:solidFill>
              <a:srgbClr val="FFEDD5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800600" y="1930598"/>
            <a:ext cx="3971925" cy="330398"/>
          </a:xfrm>
          <a:prstGeom prst="rect">
            <a:avLst/>
          </a:prstGeom>
          <a:noFill/>
        </p:spPr>
        <p:txBody>
          <a:bodyPr wrap="square" lIns="102108" tIns="102108" rIns="102108" bIns="102108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C2410C"/>
                </a:solidFill>
              </a:rPr>
              <a:t>参考实现:</a:t>
            </a:r>
            <a:r>
              <a:rPr lang="en-US" sz="725" dirty="0">
                <a:solidFill>
                  <a:srgbClr val="C2410C"/>
                </a:solidFill>
              </a:rPr>
              <a:t> GitHub PR #62 提供了客户端blksize支持，允许协商更大的块大小。</a:t>
            </a:r>
            <a:endParaRPr lang="en-US" sz="685" dirty="0"/>
          </a:p>
        </p:txBody>
      </p:sp>
      <p:sp>
        <p:nvSpPr>
          <p:cNvPr id="18" name="Shape 12"/>
          <p:cNvSpPr/>
          <p:nvPr/>
        </p:nvSpPr>
        <p:spPr>
          <a:xfrm>
            <a:off x="285750" y="3050381"/>
            <a:ext cx="8572500" cy="1169789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19" name="Shape 13"/>
          <p:cNvSpPr/>
          <p:nvPr/>
        </p:nvSpPr>
        <p:spPr>
          <a:xfrm>
            <a:off x="285750" y="3050381"/>
            <a:ext cx="8572500" cy="7144"/>
          </a:xfrm>
          <a:prstGeom prst="rect">
            <a:avLst/>
          </a:prstGeom>
          <a:solidFill>
            <a:srgbClr val="CBD5E1"/>
          </a:solidFill>
        </p:spPr>
      </p:sp>
      <p:sp>
        <p:nvSpPr>
          <p:cNvPr id="20" name="Text 14"/>
          <p:cNvSpPr/>
          <p:nvPr/>
        </p:nvSpPr>
        <p:spPr>
          <a:xfrm>
            <a:off x="285750" y="3121819"/>
            <a:ext cx="8572500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</a:rPr>
              <a:t>性能优化需求：以太网MTU利用率对比</a:t>
            </a:r>
            <a:endParaRPr lang="en-US" sz="885" dirty="0"/>
          </a:p>
        </p:txBody>
      </p:sp>
      <p:sp>
        <p:nvSpPr>
          <p:cNvPr id="21" name="Text 15"/>
          <p:cNvSpPr/>
          <p:nvPr/>
        </p:nvSpPr>
        <p:spPr>
          <a:xfrm>
            <a:off x="285750" y="3389709"/>
            <a:ext cx="85725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DEFAULT</a:t>
            </a:r>
            <a:r>
              <a:rPr lang="en-US" sz="725" dirty="0">
                <a:solidFill>
                  <a:srgbClr val="64748B"/>
                </a:solidFill>
              </a:rPr>
              <a:t>
</a:t>
            </a:r>
            <a:r>
              <a:rPr lang="en-US" sz="725" dirty="0">
                <a:solidFill>
                  <a:srgbClr val="64748B"/>
                </a:solidFill>
              </a:rPr>
              <a:t>(512B)</a:t>
            </a:r>
            <a:endParaRPr lang="en-US" sz="725" dirty="0"/>
          </a:p>
        </p:txBody>
      </p:sp>
      <p:sp>
        <p:nvSpPr>
          <p:cNvPr id="22" name="Shape 16"/>
          <p:cNvSpPr/>
          <p:nvPr/>
        </p:nvSpPr>
        <p:spPr>
          <a:xfrm>
            <a:off x="1214438" y="3382566"/>
            <a:ext cx="7643813" cy="285750"/>
          </a:xfrm>
          <a:prstGeom prst="rect">
            <a:avLst/>
          </a:prstGeom>
          <a:solidFill>
            <a:srgbClr val="F1F5F9"/>
          </a:solidFill>
          <a:ln w="9144">
            <a:solidFill>
              <a:srgbClr val="94A3B8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1214438" y="3382566"/>
            <a:ext cx="382191" cy="28575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24" name="Shape 18"/>
          <p:cNvSpPr/>
          <p:nvPr/>
        </p:nvSpPr>
        <p:spPr>
          <a:xfrm>
            <a:off x="1589484" y="3382566"/>
            <a:ext cx="7144" cy="285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25" name="Text 19"/>
          <p:cNvSpPr/>
          <p:nvPr/>
        </p:nvSpPr>
        <p:spPr>
          <a:xfrm>
            <a:off x="1214438" y="3382566"/>
            <a:ext cx="382191" cy="2857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15" dirty="0">
                <a:solidFill>
                  <a:srgbClr val="FFFFFF"/>
                </a:solidFill>
              </a:rPr>
              <a:t>HDR</a:t>
            </a:r>
            <a:endParaRPr lang="en-US" sz="515" dirty="0"/>
          </a:p>
        </p:txBody>
      </p:sp>
      <p:sp>
        <p:nvSpPr>
          <p:cNvPr id="26" name="Shape 20"/>
          <p:cNvSpPr/>
          <p:nvPr/>
        </p:nvSpPr>
        <p:spPr>
          <a:xfrm>
            <a:off x="1596628" y="3382566"/>
            <a:ext cx="2598874" cy="28575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27" name="Text 21"/>
          <p:cNvSpPr/>
          <p:nvPr/>
        </p:nvSpPr>
        <p:spPr>
          <a:xfrm>
            <a:off x="1596628" y="3382566"/>
            <a:ext cx="2598874" cy="2857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0" dirty="0">
                <a:solidFill>
                  <a:srgbClr val="FFFFFF"/>
                </a:solidFill>
              </a:rPr>
              <a:t>PAYLOAD: 512 Bytes</a:t>
            </a:r>
            <a:endParaRPr lang="en-US" sz="620" dirty="0"/>
          </a:p>
        </p:txBody>
      </p:sp>
      <p:sp>
        <p:nvSpPr>
          <p:cNvPr id="28" name="Shape 22"/>
          <p:cNvSpPr/>
          <p:nvPr/>
        </p:nvSpPr>
        <p:spPr>
          <a:xfrm>
            <a:off x="4195502" y="3382566"/>
            <a:ext cx="4662748" cy="285750"/>
          </a:xfrm>
          <a:prstGeom prst="rect">
            <a:avLst/>
          </a:prstGeom>
          <a:solidFill>
            <a:srgbClr val="E2E8F0"/>
          </a:solidFill>
        </p:spPr>
      </p:sp>
      <p:sp>
        <p:nvSpPr>
          <p:cNvPr id="29" name="Text 23"/>
          <p:cNvSpPr/>
          <p:nvPr/>
        </p:nvSpPr>
        <p:spPr>
          <a:xfrm>
            <a:off x="4195502" y="3382566"/>
            <a:ext cx="4662748" cy="2857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0" i="1" dirty="0">
                <a:solidFill>
                  <a:srgbClr val="94A3B8"/>
                </a:solidFill>
              </a:rPr>
              <a:t>WASTED MTU SPACE (~65%)</a:t>
            </a:r>
            <a:endParaRPr lang="en-US" sz="620" dirty="0"/>
          </a:p>
        </p:txBody>
      </p:sp>
      <p:sp>
        <p:nvSpPr>
          <p:cNvPr id="30" name="Text 24"/>
          <p:cNvSpPr/>
          <p:nvPr/>
        </p:nvSpPr>
        <p:spPr>
          <a:xfrm>
            <a:off x="285750" y="3746897"/>
            <a:ext cx="857250" cy="27146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r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OPTIMIZED</a:t>
            </a:r>
            <a:r>
              <a:rPr lang="en-US" sz="725" dirty="0">
                <a:solidFill>
                  <a:srgbClr val="64748B"/>
                </a:solidFill>
              </a:rPr>
              <a:t>
</a:t>
            </a:r>
            <a:r>
              <a:rPr lang="en-US" sz="725" dirty="0">
                <a:solidFill>
                  <a:srgbClr val="64748B"/>
                </a:solidFill>
              </a:rPr>
              <a:t>(1468B)</a:t>
            </a:r>
            <a:endParaRPr lang="en-US" sz="725" dirty="0"/>
          </a:p>
        </p:txBody>
      </p:sp>
      <p:sp>
        <p:nvSpPr>
          <p:cNvPr id="31" name="Shape 25"/>
          <p:cNvSpPr/>
          <p:nvPr/>
        </p:nvSpPr>
        <p:spPr>
          <a:xfrm>
            <a:off x="1214438" y="3739753"/>
            <a:ext cx="7643813" cy="285750"/>
          </a:xfrm>
          <a:prstGeom prst="rect">
            <a:avLst/>
          </a:prstGeom>
          <a:solidFill>
            <a:srgbClr val="F1F5F9"/>
          </a:solidFill>
          <a:ln w="9144">
            <a:solidFill>
              <a:srgbClr val="94A3B8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1214438" y="3739753"/>
            <a:ext cx="382191" cy="285750"/>
          </a:xfrm>
          <a:prstGeom prst="rect">
            <a:avLst/>
          </a:prstGeom>
          <a:solidFill>
            <a:srgbClr val="94A3B8"/>
          </a:solidFill>
        </p:spPr>
      </p:sp>
      <p:sp>
        <p:nvSpPr>
          <p:cNvPr id="33" name="Shape 27"/>
          <p:cNvSpPr/>
          <p:nvPr/>
        </p:nvSpPr>
        <p:spPr>
          <a:xfrm>
            <a:off x="1589484" y="3739753"/>
            <a:ext cx="7144" cy="28575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4" name="Text 28"/>
          <p:cNvSpPr/>
          <p:nvPr/>
        </p:nvSpPr>
        <p:spPr>
          <a:xfrm>
            <a:off x="1214438" y="3739753"/>
            <a:ext cx="382191" cy="2857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700"/>
              </a:lnSpc>
              <a:buNone/>
            </a:pPr>
            <a:r>
              <a:rPr lang="en-US" sz="515" dirty="0">
                <a:solidFill>
                  <a:srgbClr val="FFFFFF"/>
                </a:solidFill>
              </a:rPr>
              <a:t>HDR</a:t>
            </a:r>
            <a:endParaRPr lang="en-US" sz="515" dirty="0"/>
          </a:p>
        </p:txBody>
      </p:sp>
      <p:sp>
        <p:nvSpPr>
          <p:cNvPr id="35" name="Shape 29"/>
          <p:cNvSpPr/>
          <p:nvPr/>
        </p:nvSpPr>
        <p:spPr>
          <a:xfrm>
            <a:off x="1596628" y="3739753"/>
            <a:ext cx="7261622" cy="28575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6" name="Text 30"/>
          <p:cNvSpPr/>
          <p:nvPr/>
        </p:nvSpPr>
        <p:spPr>
          <a:xfrm>
            <a:off x="1596628" y="3739753"/>
            <a:ext cx="7261622" cy="28575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800"/>
              </a:lnSpc>
              <a:buNone/>
            </a:pPr>
            <a:r>
              <a:rPr lang="en-US" sz="620" dirty="0">
                <a:solidFill>
                  <a:srgbClr val="FFFFFF"/>
                </a:solidFill>
              </a:rPr>
              <a:t>PAYLOAD: 1468 Bytes</a:t>
            </a:r>
            <a:endParaRPr lang="en-US" sz="620" dirty="0"/>
          </a:p>
        </p:txBody>
      </p:sp>
      <p:sp>
        <p:nvSpPr>
          <p:cNvPr id="37" name="Shape 31"/>
          <p:cNvSpPr/>
          <p:nvPr/>
        </p:nvSpPr>
        <p:spPr>
          <a:xfrm rot="300000">
            <a:off x="8169072" y="3632597"/>
            <a:ext cx="760616" cy="187523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38" name="Text 32"/>
          <p:cNvSpPr/>
          <p:nvPr/>
        </p:nvSpPr>
        <p:spPr>
          <a:xfrm rot="300000">
            <a:off x="8169073" y="3632597"/>
            <a:ext cx="760614" cy="187523"/>
          </a:xfrm>
          <a:prstGeom prst="rect">
            <a:avLst/>
          </a:prstGeom>
          <a:noFill/>
        </p:spPr>
        <p:txBody>
          <a:bodyPr wrap="square" lIns="85090" tIns="42545" rIns="85090" bIns="42545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585" b="1" dirty="0">
                <a:solidFill>
                  <a:srgbClr val="FFFFFF"/>
                </a:solidFill>
              </a:rPr>
              <a:t>3X EFFICIENCY</a:t>
            </a:r>
            <a:endParaRPr lang="en-US" sz="585" dirty="0"/>
          </a:p>
        </p:txBody>
      </p:sp>
      <p:sp>
        <p:nvSpPr>
          <p:cNvPr id="39" name="Text 33"/>
          <p:cNvSpPr/>
          <p:nvPr/>
        </p:nvSpPr>
        <p:spPr>
          <a:xfrm>
            <a:off x="285750" y="4096941"/>
            <a:ext cx="8572500" cy="11608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r">
              <a:lnSpc>
                <a:spcPts val="800"/>
              </a:lnSpc>
              <a:buNone/>
            </a:pPr>
            <a:r>
              <a:rPr lang="en-US" sz="620" dirty="0">
                <a:solidFill>
                  <a:srgbClr val="64748B"/>
                </a:solidFill>
              </a:rPr>
              <a:t>*Based on Ethernet MTU 1500B - IP(20B) - UDP(8B) = 1472B Max Payload</a:t>
            </a:r>
            <a:endParaRPr lang="en-US" sz="6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2"/>
          <p:cNvSpPr/>
          <p:nvPr/>
        </p:nvSpPr>
        <p:spPr>
          <a:xfrm>
            <a:off x="285750" y="428625"/>
            <a:ext cx="1076960" cy="3587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zh-CN" altLang="en-US" sz="2120" b="1" dirty="0">
                <a:solidFill>
                  <a:srgbClr val="0F172A"/>
                </a:solidFill>
              </a:rPr>
              <a:t>环境准备</a:t>
            </a:r>
            <a:endParaRPr lang="en-US" altLang="zh-CN" sz="2120" b="1" dirty="0">
              <a:solidFill>
                <a:srgbClr val="0F172A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0070" y="1045210"/>
            <a:ext cx="6384925" cy="82994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step1:  </a:t>
            </a:r>
            <a:r>
              <a:rPr lang="zh-CN" altLang="en-US" sz="1600"/>
              <a:t>登录</a:t>
            </a:r>
            <a:r>
              <a:rPr lang="en-US" altLang="zh-CN" sz="1600"/>
              <a:t>github</a:t>
            </a:r>
            <a:endParaRPr lang="en-US" altLang="zh-CN" sz="1600"/>
          </a:p>
          <a:p>
            <a:r>
              <a:rPr lang="en-US" altLang="zh-CN" sz="1600"/>
              <a:t>step2</a:t>
            </a:r>
            <a:r>
              <a:rPr lang="zh-CN" altLang="en-US" sz="1600"/>
              <a:t>：</a:t>
            </a:r>
            <a:r>
              <a:rPr lang="en-US" altLang="zh-CN" sz="1600"/>
              <a:t>fork</a:t>
            </a:r>
            <a:r>
              <a:rPr lang="zh-CN" altLang="en-US" sz="1600"/>
              <a:t>仓库</a:t>
            </a:r>
            <a:r>
              <a:rPr lang="en-US" altLang="zh-CN" sz="1600"/>
              <a:t>https://github.com/czk/lwip</a:t>
            </a:r>
            <a:endParaRPr lang="en-US" altLang="zh-CN" sz="1600"/>
          </a:p>
          <a:p>
            <a:endParaRPr lang="en-US" altLang="zh-CN" sz="1600"/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1865" y="1737360"/>
            <a:ext cx="7374890" cy="2921000"/>
          </a:xfrm>
          <a:prstGeom prst="rect">
            <a:avLst/>
          </a:prstGeom>
        </p:spPr>
      </p:pic>
      <p:cxnSp>
        <p:nvCxnSpPr>
          <p:cNvPr id="11" name="直接箭头连接符 10"/>
          <p:cNvCxnSpPr/>
          <p:nvPr/>
        </p:nvCxnSpPr>
        <p:spPr>
          <a:xfrm>
            <a:off x="3239770" y="1530350"/>
            <a:ext cx="4445000" cy="10642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2"/>
          <p:cNvSpPr/>
          <p:nvPr/>
        </p:nvSpPr>
        <p:spPr>
          <a:xfrm>
            <a:off x="285750" y="428625"/>
            <a:ext cx="1076960" cy="3587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zh-CN" altLang="en-US" sz="2120" b="1" dirty="0">
                <a:solidFill>
                  <a:srgbClr val="0F172A"/>
                </a:solidFill>
              </a:rPr>
              <a:t>环境准备</a:t>
            </a:r>
            <a:endParaRPr lang="en-US" altLang="zh-CN" sz="2120" b="1" dirty="0">
              <a:solidFill>
                <a:srgbClr val="0F172A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94995" y="1482090"/>
            <a:ext cx="6384925" cy="583565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lang="en-US" altLang="zh-CN" sz="1600"/>
              <a:t>step3:  </a:t>
            </a:r>
            <a:r>
              <a:rPr lang="zh-CN" altLang="en-US" sz="1600"/>
              <a:t>基于</a:t>
            </a:r>
            <a:r>
              <a:rPr lang="en-US" altLang="zh-CN" sz="1600"/>
              <a:t>fork</a:t>
            </a:r>
            <a:r>
              <a:rPr lang="zh-CN" altLang="en-US" sz="1600"/>
              <a:t>之后的</a:t>
            </a:r>
            <a:r>
              <a:rPr lang="zh-CN" altLang="en-US" sz="1600"/>
              <a:t>仓库，打开一个新的</a:t>
            </a:r>
            <a:r>
              <a:rPr lang="en-US" altLang="zh-CN" sz="1600"/>
              <a:t>codespace</a:t>
            </a:r>
            <a:endParaRPr lang="en-US" altLang="zh-CN" sz="1600"/>
          </a:p>
          <a:p>
            <a:r>
              <a:rPr lang="en-US" altLang="zh-CN" sz="1600"/>
              <a:t>step4: </a:t>
            </a:r>
            <a:r>
              <a:rPr lang="zh-CN" altLang="en-US" sz="1600"/>
              <a:t>在终端执行</a:t>
            </a:r>
            <a:r>
              <a:rPr lang="en-US" altLang="zh-CN" sz="1600"/>
              <a:t> bash install_depends.sh</a:t>
            </a:r>
            <a:endParaRPr lang="en-US" altLang="zh-CN" sz="160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985" y="2277110"/>
            <a:ext cx="4700905" cy="2363470"/>
          </a:xfrm>
          <a:prstGeom prst="rect">
            <a:avLst/>
          </a:prstGeom>
        </p:spPr>
      </p:pic>
      <p:cxnSp>
        <p:nvCxnSpPr>
          <p:cNvPr id="4" name="直接箭头连接符 3"/>
          <p:cNvCxnSpPr/>
          <p:nvPr/>
        </p:nvCxnSpPr>
        <p:spPr>
          <a:xfrm>
            <a:off x="2473325" y="1764030"/>
            <a:ext cx="1720850" cy="1939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4140" y="2274570"/>
            <a:ext cx="3878580" cy="2559685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3779520" y="2583180"/>
            <a:ext cx="302895" cy="260985"/>
          </a:xfrm>
          <a:prstGeom prst="rect">
            <a:avLst/>
          </a:prstGeom>
          <a:noFill/>
          <a:ln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8331200" y="2121535"/>
            <a:ext cx="438785" cy="86296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" name="文本框 8"/>
          <p:cNvSpPr txBox="1"/>
          <p:nvPr/>
        </p:nvSpPr>
        <p:spPr>
          <a:xfrm>
            <a:off x="6266815" y="1728470"/>
            <a:ext cx="2976880" cy="337185"/>
          </a:xfrm>
          <a:prstGeom prst="rect">
            <a:avLst/>
          </a:prstGeom>
        </p:spPr>
        <p:txBody>
          <a:bodyPr wrap="square">
            <a:spAutoFit/>
          </a:bodyPr>
          <a:p>
            <a:pPr lvl="0" algn="l">
              <a:buClrTx/>
              <a:buSzTx/>
              <a:buFontTx/>
            </a:pPr>
            <a:r>
              <a:rPr lang="en-US" altLang="zh-CN" sz="1600">
                <a:cs typeface="+mn-lt"/>
                <a:sym typeface="+mn-ea"/>
              </a:rPr>
              <a:t>注意：这个得是</a:t>
            </a:r>
            <a:r>
              <a:rPr lang="en-US" altLang="zh-CN" sz="1600">
                <a:cs typeface="+mn-lt"/>
                <a:sym typeface="+mn-ea"/>
              </a:rPr>
              <a:t>fork</a:t>
            </a:r>
            <a:r>
              <a:rPr lang="en-US" altLang="zh-CN" sz="1600">
                <a:cs typeface="+mn-lt"/>
                <a:sym typeface="+mn-ea"/>
              </a:rPr>
              <a:t>后的</a:t>
            </a:r>
            <a:r>
              <a:rPr lang="en-US" altLang="zh-CN" sz="1600">
                <a:cs typeface="+mn-lt"/>
                <a:sym typeface="+mn-ea"/>
              </a:rPr>
              <a:t>仓库</a:t>
            </a:r>
            <a:endParaRPr lang="en-US" altLang="zh-CN" sz="1600">
              <a:cs typeface="+mn-lt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3393" y="2578100"/>
            <a:ext cx="4215208" cy="2333968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483670" y="240860"/>
            <a:ext cx="6282055" cy="450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zh-CN" altLang="en-US" sz="2100" b="1" dirty="0">
                <a:solidFill>
                  <a:srgbClr val="0F172A"/>
                </a:solidFill>
                <a:sym typeface="+mn-ea"/>
              </a:rPr>
              <a:t>环境准备</a:t>
            </a:r>
            <a:r>
              <a:rPr lang="en-US" altLang="zh-CN" sz="2100" b="1" dirty="0">
                <a:solidFill>
                  <a:srgbClr val="0F172A"/>
                </a:solidFill>
                <a:sym typeface="+mn-ea"/>
              </a:rPr>
              <a:t>:     </a:t>
            </a:r>
            <a:r>
              <a:rPr lang="zh-CN" altLang="en-US" sz="2100" b="1" dirty="0">
                <a:solidFill>
                  <a:srgbClr val="0F172A"/>
                </a:solidFill>
                <a:sym typeface="+mn-ea"/>
              </a:rPr>
              <a:t>启动</a:t>
            </a:r>
            <a:r>
              <a:rPr lang="en-US" altLang="zh-CN" sz="2100" b="1" dirty="0">
                <a:solidFill>
                  <a:srgbClr val="0F172A"/>
                </a:solidFill>
                <a:sym typeface="+mn-ea"/>
              </a:rPr>
              <a:t>claude</a:t>
            </a:r>
            <a:r>
              <a:rPr lang="zh-CN" altLang="en-US" sz="2100" b="1" dirty="0">
                <a:solidFill>
                  <a:srgbClr val="0F172A"/>
                </a:solidFill>
                <a:sym typeface="+mn-ea"/>
              </a:rPr>
              <a:t>，记住这个开了</a:t>
            </a:r>
            <a:r>
              <a:rPr lang="en-US" altLang="zh-CN" sz="2100" b="1" dirty="0">
                <a:solidFill>
                  <a:srgbClr val="0F172A"/>
                </a:solidFill>
                <a:sym typeface="+mn-ea"/>
              </a:rPr>
              <a:t>claude</a:t>
            </a:r>
            <a:r>
              <a:rPr lang="zh-CN" altLang="en-US" sz="2100" b="1" dirty="0">
                <a:solidFill>
                  <a:srgbClr val="0F172A"/>
                </a:solidFill>
                <a:sym typeface="+mn-ea"/>
              </a:rPr>
              <a:t>的</a:t>
            </a:r>
            <a:r>
              <a:rPr lang="zh-CN" altLang="en-US" sz="2100" b="1" dirty="0">
                <a:solidFill>
                  <a:srgbClr val="0F172A"/>
                </a:solidFill>
                <a:sym typeface="+mn-ea"/>
              </a:rPr>
              <a:t>终端</a:t>
            </a:r>
            <a:endParaRPr lang="zh-CN" altLang="en-US" sz="2100" b="1" dirty="0">
              <a:solidFill>
                <a:srgbClr val="0F172A"/>
              </a:solidFill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3700" y="744408"/>
            <a:ext cx="52990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step5: </a:t>
            </a:r>
            <a:r>
              <a:rPr lang="zh-CN" altLang="en-US" dirty="0"/>
              <a:t>编辑 </a:t>
            </a:r>
            <a:r>
              <a:rPr lang="en-US" altLang="zh-CN" dirty="0"/>
              <a:t>start_claude.sh </a:t>
            </a:r>
            <a:r>
              <a:rPr lang="zh-CN" altLang="en-US" dirty="0"/>
              <a:t>找到以下代码，写入秘钥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716623" y="1194494"/>
            <a:ext cx="7844318" cy="714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3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# </a:t>
            </a:r>
            <a:r>
              <a:rPr lang="zh-CN" altLang="en-US" sz="1350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设置环境变量（需手动填写）</a:t>
            </a:r>
            <a:endParaRPr lang="zh-CN" altLang="en-US" sz="13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3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zh-CN" sz="13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3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ANTHROPIC_AUTH_TOKEN</a:t>
            </a:r>
            <a:r>
              <a:rPr lang="en-US" altLang="zh-CN" sz="13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3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sk-CpKzICGFHX7fLPMglAmHq29E2FueAKAz8EqWN1BUC4YVTbEt</a:t>
            </a:r>
            <a:endParaRPr lang="en-US" altLang="zh-CN" sz="13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sz="1350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altLang="zh-CN" sz="13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sz="13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ANTHROPIC_BASE_URL</a:t>
            </a:r>
            <a:r>
              <a:rPr lang="en-US" altLang="zh-CN" sz="1350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sz="13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https</a:t>
            </a:r>
            <a:r>
              <a:rPr lang="en-US" altLang="zh-CN" sz="13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://</a:t>
            </a:r>
            <a:r>
              <a:rPr lang="en-US" altLang="zh-CN" sz="13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xinghuapi</a:t>
            </a:r>
            <a:r>
              <a:rPr lang="en-US" altLang="zh-CN" sz="1350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zh-CN" sz="1350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com</a:t>
            </a:r>
            <a:endParaRPr lang="en-US" altLang="zh-CN" sz="1350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4510" y="1908810"/>
            <a:ext cx="85598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step6: </a:t>
            </a:r>
            <a:r>
              <a:rPr lang="zh-CN" altLang="en-US" dirty="0"/>
              <a:t>在终端命令行，执行 </a:t>
            </a:r>
            <a:r>
              <a:rPr lang="en-US" altLang="zh-CN" dirty="0"/>
              <a:t>bash start_claude.sh </a:t>
            </a:r>
            <a:r>
              <a:rPr lang="zh-CN" altLang="en-US" dirty="0"/>
              <a:t>，按多次回车</a:t>
            </a:r>
            <a:r>
              <a:rPr lang="zh-CN" altLang="en-US" dirty="0"/>
              <a:t>后即可进入</a:t>
            </a:r>
            <a:r>
              <a:rPr lang="en-US" altLang="zh-CN" dirty="0"/>
              <a:t>Claude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010" y="2512695"/>
            <a:ext cx="4091940" cy="2566035"/>
          </a:xfrm>
          <a:prstGeom prst="rect">
            <a:avLst/>
          </a:prstGeom>
        </p:spPr>
      </p:pic>
      <p:cxnSp>
        <p:nvCxnSpPr>
          <p:cNvPr id="3" name="直接箭头连接符 2"/>
          <p:cNvCxnSpPr/>
          <p:nvPr/>
        </p:nvCxnSpPr>
        <p:spPr>
          <a:xfrm flipH="1">
            <a:off x="2965450" y="1795145"/>
            <a:ext cx="1423035" cy="136969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 flipH="1">
            <a:off x="716915" y="989330"/>
            <a:ext cx="1872615" cy="328676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428625"/>
            <a:ext cx="8001000" cy="557213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971550"/>
            <a:ext cx="8001000" cy="142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6169660" cy="3587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zh-CN" altLang="en-US" sz="21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体验</a:t>
            </a:r>
            <a:r>
              <a:rPr lang="en-US" sz="21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演练项目初始状态</a:t>
            </a:r>
            <a:r>
              <a:rPr lang="zh-CN" altLang="en-US" sz="21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：编译</a:t>
            </a:r>
            <a:r>
              <a:rPr lang="en-US" altLang="zh-CN" sz="21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&amp;</a:t>
            </a:r>
            <a:r>
              <a:rPr lang="zh-CN" altLang="en-US" sz="21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启动服务</a:t>
            </a:r>
            <a:endParaRPr lang="zh-CN" altLang="en-US" sz="212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44246" y="728663"/>
            <a:ext cx="1028254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SECTION 03 // STATUS</a:t>
            </a:r>
            <a:endParaRPr lang="en-US" sz="725" dirty="0"/>
          </a:p>
        </p:txBody>
      </p:sp>
      <p:sp>
        <p:nvSpPr>
          <p:cNvPr id="15" name="Text 12"/>
          <p:cNvSpPr/>
          <p:nvPr/>
        </p:nvSpPr>
        <p:spPr>
          <a:xfrm>
            <a:off x="331153" y="1273317"/>
            <a:ext cx="2931795" cy="3587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altLang="zh-CN" sz="1200" b="1" dirty="0">
                <a:solidFill>
                  <a:schemeClr val="tx1"/>
                </a:solidFill>
              </a:rPr>
              <a:t>step1</a:t>
            </a:r>
            <a:r>
              <a:rPr lang="zh-CN" altLang="en-US" sz="1200" b="1" dirty="0">
                <a:solidFill>
                  <a:schemeClr val="tx1"/>
                </a:solidFill>
              </a:rPr>
              <a:t>：编译</a:t>
            </a:r>
            <a:r>
              <a:rPr lang="zh-CN" altLang="en-US" sz="1200" dirty="0">
                <a:solidFill>
                  <a:schemeClr val="tx1"/>
                </a:solidFill>
              </a:rPr>
              <a:t>。在</a:t>
            </a:r>
            <a:r>
              <a:rPr lang="zh-CN" altLang="en-US" sz="1200" dirty="0">
                <a:solidFill>
                  <a:schemeClr val="tx1"/>
                </a:solidFill>
              </a:rPr>
              <a:t>终端执行下面的命令：</a:t>
            </a:r>
            <a:endParaRPr lang="zh-CN" altLang="en-US" sz="1200" dirty="0">
              <a:solidFill>
                <a:schemeClr val="tx1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altLang="zh-CN" sz="1200" dirty="0">
                <a:solidFill>
                  <a:schemeClr val="tx1"/>
                </a:solidFill>
              </a:rPr>
              <a:t> mkdir build &amp;&amp;  cd build &amp;&amp; cmake .. &amp;&amp; make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sp>
        <p:nvSpPr>
          <p:cNvPr id="52" name="Text 12"/>
          <p:cNvSpPr/>
          <p:nvPr/>
        </p:nvSpPr>
        <p:spPr>
          <a:xfrm>
            <a:off x="331153" y="2486167"/>
            <a:ext cx="3973830" cy="3587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altLang="zh-CN" sz="1200" b="1" dirty="0">
                <a:solidFill>
                  <a:schemeClr val="tx1"/>
                </a:solidFill>
              </a:rPr>
              <a:t>step2</a:t>
            </a:r>
            <a:r>
              <a:rPr lang="zh-CN" altLang="en-US" sz="1200" b="1" dirty="0">
                <a:solidFill>
                  <a:schemeClr val="tx1"/>
                </a:solidFill>
              </a:rPr>
              <a:t>：启动服务</a:t>
            </a:r>
            <a:r>
              <a:rPr lang="zh-CN" altLang="en-US" sz="1200" dirty="0">
                <a:solidFill>
                  <a:schemeClr val="tx1"/>
                </a:solidFill>
              </a:rPr>
              <a:t>。新开</a:t>
            </a:r>
            <a:r>
              <a:rPr lang="en-US" altLang="zh-CN" sz="1200" dirty="0">
                <a:solidFill>
                  <a:schemeClr val="tx1"/>
                </a:solidFill>
              </a:rPr>
              <a:t>1</a:t>
            </a:r>
            <a:r>
              <a:rPr lang="zh-CN" altLang="en-US" sz="1200" dirty="0">
                <a:solidFill>
                  <a:schemeClr val="tx1"/>
                </a:solidFill>
              </a:rPr>
              <a:t>个终端，执行：</a:t>
            </a:r>
            <a:endParaRPr lang="zh-CN" altLang="en-US" sz="1200" dirty="0">
              <a:solidFill>
                <a:schemeClr val="tx1"/>
              </a:solidFill>
            </a:endParaRPr>
          </a:p>
          <a:p>
            <a:pPr marL="0" indent="0" algn="l">
              <a:lnSpc>
                <a:spcPts val="1400"/>
              </a:lnSpc>
              <a:buNone/>
            </a:pPr>
            <a:r>
              <a:rPr lang="en-US" altLang="zh-CN" sz="1200" dirty="0">
                <a:sym typeface="+mn-ea"/>
              </a:rPr>
              <a:t>cd build &amp;&amp; </a:t>
            </a:r>
            <a:r>
              <a:rPr lang="en-US" altLang="zh-CN" sz="1200" dirty="0">
                <a:solidFill>
                  <a:schemeClr val="tx1"/>
                </a:solidFill>
              </a:rPr>
              <a:t>sudo ./contrib/ports/unix/example_app/simple_ont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5165" y="1395095"/>
            <a:ext cx="3082290" cy="16916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717540" y="1005840"/>
            <a:ext cx="3129915" cy="30734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1200"/>
              </a:lnSpc>
              <a:buClrTx/>
              <a:buSzTx/>
              <a:buFontTx/>
            </a:pP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复制命令</a:t>
            </a: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后可右键粘贴到命令行，如果不行，点浏览器地址栏的锁图标，允许</a:t>
            </a: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剪贴板</a:t>
            </a:r>
            <a:endParaRPr lang="zh-CN" altLang="en-US" sz="1200" b="1" dirty="0">
              <a:solidFill>
                <a:srgbClr val="2563EB"/>
              </a:solidFill>
              <a:sym typeface="+mn-ea"/>
            </a:endParaRPr>
          </a:p>
        </p:txBody>
      </p:sp>
      <p:cxnSp>
        <p:nvCxnSpPr>
          <p:cNvPr id="12" name="直接箭头连接符 11"/>
          <p:cNvCxnSpPr>
            <a:stCxn id="15" idx="3"/>
          </p:cNvCxnSpPr>
          <p:nvPr/>
        </p:nvCxnSpPr>
        <p:spPr>
          <a:xfrm>
            <a:off x="3263265" y="1452880"/>
            <a:ext cx="2214245" cy="4127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380" y="3261995"/>
            <a:ext cx="4450715" cy="17526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12495" y="3035300"/>
            <a:ext cx="3853180" cy="15367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lvl="0" algn="l">
              <a:lnSpc>
                <a:spcPts val="1200"/>
              </a:lnSpc>
              <a:buClrTx/>
              <a:buSzTx/>
              <a:buFontTx/>
            </a:pP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点这里的加号，新开</a:t>
            </a:r>
            <a:r>
              <a:rPr lang="en-US" altLang="zh-CN" sz="1200" b="1" dirty="0">
                <a:solidFill>
                  <a:srgbClr val="2563EB"/>
                </a:solidFill>
                <a:sym typeface="+mn-ea"/>
              </a:rPr>
              <a:t>1</a:t>
            </a: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个终端。右键黏贴命令，回车</a:t>
            </a: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执行</a:t>
            </a:r>
            <a:endParaRPr lang="zh-CN" altLang="en-US" sz="1200" b="1" dirty="0">
              <a:solidFill>
                <a:srgbClr val="2563EB"/>
              </a:solidFill>
              <a:sym typeface="+mn-ea"/>
            </a:endParaRPr>
          </a:p>
        </p:txBody>
      </p:sp>
      <p:cxnSp>
        <p:nvCxnSpPr>
          <p:cNvPr id="19" name="直接箭头连接符 18"/>
          <p:cNvCxnSpPr>
            <a:stCxn id="18" idx="2"/>
          </p:cNvCxnSpPr>
          <p:nvPr/>
        </p:nvCxnSpPr>
        <p:spPr>
          <a:xfrm>
            <a:off x="2839085" y="3188970"/>
            <a:ext cx="572135" cy="28829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428625"/>
            <a:ext cx="8001000" cy="557213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971550"/>
            <a:ext cx="8001000" cy="142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6169660" cy="35877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zh-CN" altLang="en-US" sz="21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体验</a:t>
            </a:r>
            <a:r>
              <a:rPr lang="en-US" sz="21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演练项目初始状态</a:t>
            </a:r>
            <a:r>
              <a:rPr lang="zh-CN" altLang="en-US" sz="2120" b="1" dirty="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：查看网页</a:t>
            </a:r>
            <a:endParaRPr lang="zh-CN" altLang="en-US" sz="2120" b="1" dirty="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 3"/>
          <p:cNvSpPr/>
          <p:nvPr/>
        </p:nvSpPr>
        <p:spPr>
          <a:xfrm>
            <a:off x="7544246" y="728663"/>
            <a:ext cx="1028254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SECTION 03 // STATUS</a:t>
            </a:r>
            <a:endParaRPr lang="en-US" sz="725" dirty="0"/>
          </a:p>
        </p:txBody>
      </p:sp>
      <p:sp>
        <p:nvSpPr>
          <p:cNvPr id="53" name="Text 12"/>
          <p:cNvSpPr/>
          <p:nvPr/>
        </p:nvSpPr>
        <p:spPr>
          <a:xfrm>
            <a:off x="347663" y="1119012"/>
            <a:ext cx="3288665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altLang="zh-CN" sz="1200" b="1" dirty="0">
                <a:solidFill>
                  <a:schemeClr val="tx1"/>
                </a:solidFill>
              </a:rPr>
              <a:t>step3</a:t>
            </a:r>
            <a:r>
              <a:rPr lang="zh-CN" altLang="en-US" sz="1200" dirty="0">
                <a:solidFill>
                  <a:schemeClr val="tx1"/>
                </a:solidFill>
              </a:rPr>
              <a:t>：新开</a:t>
            </a:r>
            <a:r>
              <a:rPr lang="en-US" altLang="zh-CN" sz="1200" dirty="0">
                <a:solidFill>
                  <a:schemeClr val="tx1"/>
                </a:solidFill>
              </a:rPr>
              <a:t>1</a:t>
            </a:r>
            <a:r>
              <a:rPr lang="zh-CN" altLang="en-US" sz="1200" dirty="0">
                <a:solidFill>
                  <a:schemeClr val="tx1"/>
                </a:solidFill>
              </a:rPr>
              <a:t>个终端，执行：</a:t>
            </a:r>
            <a:r>
              <a:rPr lang="en-US" altLang="zh-CN" sz="1200" dirty="0">
                <a:solidFill>
                  <a:schemeClr val="tx1"/>
                </a:solidFill>
              </a:rPr>
              <a:t>python3 tcp_proxy.py</a:t>
            </a:r>
            <a:endParaRPr lang="en-US" altLang="zh-CN" sz="1200" dirty="0">
              <a:solidFill>
                <a:schemeClr val="tx1"/>
              </a:solidFill>
            </a:endParaRPr>
          </a:p>
        </p:txBody>
      </p:sp>
      <p:pic>
        <p:nvPicPr>
          <p:cNvPr id="55" name="图片 5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310" y="1361440"/>
            <a:ext cx="3975100" cy="1462405"/>
          </a:xfrm>
          <a:prstGeom prst="rect">
            <a:avLst/>
          </a:prstGeom>
        </p:spPr>
      </p:pic>
      <p:sp>
        <p:nvSpPr>
          <p:cNvPr id="56" name="矩形 55"/>
          <p:cNvSpPr/>
          <p:nvPr/>
        </p:nvSpPr>
        <p:spPr>
          <a:xfrm>
            <a:off x="4105910" y="2523490"/>
            <a:ext cx="292100" cy="180975"/>
          </a:xfrm>
          <a:prstGeom prst="rect">
            <a:avLst/>
          </a:prstGeom>
          <a:noFill/>
          <a:ln w="127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7" name="矩形 56"/>
          <p:cNvSpPr/>
          <p:nvPr/>
        </p:nvSpPr>
        <p:spPr>
          <a:xfrm>
            <a:off x="505460" y="2324100"/>
            <a:ext cx="2099945" cy="158115"/>
          </a:xfrm>
          <a:prstGeom prst="rect">
            <a:avLst/>
          </a:prstGeom>
          <a:noFill/>
          <a:ln w="127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9" name="Text 12"/>
          <p:cNvSpPr/>
          <p:nvPr/>
        </p:nvSpPr>
        <p:spPr>
          <a:xfrm>
            <a:off x="6284278" y="2670317"/>
            <a:ext cx="167640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lvl="0" algn="l">
              <a:lnSpc>
                <a:spcPts val="1200"/>
              </a:lnSpc>
              <a:buClrTx/>
              <a:buSzTx/>
              <a:buFontTx/>
            </a:pP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可以看到项目的初始</a:t>
            </a: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页面</a:t>
            </a:r>
            <a:endParaRPr lang="zh-CN" altLang="en-US" sz="1200" b="1" dirty="0">
              <a:solidFill>
                <a:srgbClr val="2563EB"/>
              </a:solidFill>
              <a:sym typeface="+mn-ea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2560003" y="2823987"/>
            <a:ext cx="1908175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lvl="0" algn="l">
              <a:lnSpc>
                <a:spcPts val="1200"/>
              </a:lnSpc>
              <a:buClrTx/>
              <a:buSzTx/>
              <a:buFontTx/>
            </a:pP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弹窗这里的共享模式选</a:t>
            </a:r>
            <a:r>
              <a:rPr lang="en-US" altLang="zh-CN" sz="1200" b="1" dirty="0">
                <a:solidFill>
                  <a:srgbClr val="2563EB"/>
                </a:solidFill>
                <a:sym typeface="+mn-ea"/>
              </a:rPr>
              <a:t>public</a:t>
            </a:r>
            <a:endParaRPr lang="en-US" altLang="zh-CN" sz="1200" b="1" dirty="0">
              <a:solidFill>
                <a:srgbClr val="2563EB"/>
              </a:solidFill>
              <a:sym typeface="+mn-ea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4090" y="2939415"/>
            <a:ext cx="2912110" cy="1952625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58" name="直接箭头连接符 57"/>
          <p:cNvCxnSpPr>
            <a:stCxn id="57" idx="2"/>
            <a:endCxn id="12" idx="0"/>
          </p:cNvCxnSpPr>
          <p:nvPr/>
        </p:nvCxnSpPr>
        <p:spPr>
          <a:xfrm>
            <a:off x="1555750" y="2482215"/>
            <a:ext cx="641350" cy="6737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60" y="3477895"/>
            <a:ext cx="2931160" cy="1600835"/>
          </a:xfrm>
          <a:prstGeom prst="rect">
            <a:avLst/>
          </a:prstGeom>
          <a:ln w="12700" cmpd="sng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1" name="Text 12"/>
          <p:cNvSpPr/>
          <p:nvPr/>
        </p:nvSpPr>
        <p:spPr>
          <a:xfrm>
            <a:off x="3504248" y="3572652"/>
            <a:ext cx="1371600" cy="30734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lvl="0" algn="l">
              <a:lnSpc>
                <a:spcPts val="1200"/>
              </a:lnSpc>
              <a:buClrTx/>
              <a:buSzTx/>
              <a:buFontTx/>
            </a:pP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第一次</a:t>
            </a: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会遇到弹窗，</a:t>
            </a:r>
            <a:endParaRPr lang="zh-CN" altLang="en-US" sz="1200" b="1" dirty="0">
              <a:solidFill>
                <a:srgbClr val="2563EB"/>
              </a:solidFill>
              <a:sym typeface="+mn-ea"/>
            </a:endParaRPr>
          </a:p>
          <a:p>
            <a:pPr lvl="0" algn="l">
              <a:lnSpc>
                <a:spcPts val="1200"/>
              </a:lnSpc>
              <a:buClrTx/>
              <a:buSzTx/>
              <a:buFontTx/>
            </a:pP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点绿色</a:t>
            </a:r>
            <a:r>
              <a:rPr lang="en-US" altLang="zh-CN" sz="1200" b="1" dirty="0">
                <a:solidFill>
                  <a:srgbClr val="2563EB"/>
                </a:solidFill>
                <a:sym typeface="+mn-ea"/>
              </a:rPr>
              <a:t>continue</a:t>
            </a: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按钮</a:t>
            </a:r>
            <a:endParaRPr lang="zh-CN" altLang="en-US" sz="1200" b="1" dirty="0">
              <a:solidFill>
                <a:srgbClr val="2563EB"/>
              </a:solidFill>
              <a:sym typeface="+mn-ea"/>
            </a:endParaRPr>
          </a:p>
        </p:txBody>
      </p:sp>
      <p:sp>
        <p:nvSpPr>
          <p:cNvPr id="12" name="Text 12"/>
          <p:cNvSpPr/>
          <p:nvPr/>
        </p:nvSpPr>
        <p:spPr>
          <a:xfrm>
            <a:off x="347663" y="3156092"/>
            <a:ext cx="3698875" cy="1790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altLang="zh-CN" sz="1200" b="1" dirty="0">
                <a:solidFill>
                  <a:schemeClr val="tx1"/>
                </a:solidFill>
              </a:rPr>
              <a:t>step4</a:t>
            </a:r>
            <a:r>
              <a:rPr lang="zh-CN" altLang="en-US" sz="1200" dirty="0">
                <a:solidFill>
                  <a:schemeClr val="tx1"/>
                </a:solidFill>
              </a:rPr>
              <a:t>：右键拷贝终端打印的</a:t>
            </a:r>
            <a:r>
              <a:rPr lang="zh-CN" altLang="en-US" sz="1200" dirty="0">
                <a:solidFill>
                  <a:schemeClr val="tx1"/>
                </a:solidFill>
              </a:rPr>
              <a:t>地址，在浏览器</a:t>
            </a:r>
            <a:r>
              <a:rPr lang="zh-CN" altLang="en-US" sz="1200" dirty="0">
                <a:solidFill>
                  <a:schemeClr val="tx1"/>
                </a:solidFill>
              </a:rPr>
              <a:t>地址栏输入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cxnSp>
        <p:nvCxnSpPr>
          <p:cNvPr id="17" name="直接箭头连接符 16"/>
          <p:cNvCxnSpPr/>
          <p:nvPr/>
        </p:nvCxnSpPr>
        <p:spPr>
          <a:xfrm flipH="1">
            <a:off x="3076575" y="3879850"/>
            <a:ext cx="560070" cy="7524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V="1">
            <a:off x="3636645" y="2823845"/>
            <a:ext cx="2647950" cy="19196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75" y="-5588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57213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971550"/>
            <a:ext cx="8001000" cy="142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3500120" cy="3587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zh-CN" altLang="en-US" sz="2120" b="1" dirty="0">
                <a:solidFill>
                  <a:srgbClr val="0F172A"/>
                </a:solidFill>
              </a:rPr>
              <a:t>介绍：本项目</a:t>
            </a:r>
            <a:r>
              <a:rPr lang="zh-CN" altLang="en-US" sz="2120" b="1" dirty="0">
                <a:solidFill>
                  <a:srgbClr val="0F172A"/>
                </a:solidFill>
              </a:rPr>
              <a:t>的三步实施步骤</a:t>
            </a:r>
            <a:endParaRPr lang="zh-CN" altLang="en-US" sz="2120" b="1" dirty="0">
              <a:solidFill>
                <a:srgbClr val="0F172A"/>
              </a:solidFill>
            </a:endParaRPr>
          </a:p>
        </p:txBody>
      </p:sp>
      <p:sp>
        <p:nvSpPr>
          <p:cNvPr id="6" name="Text 3"/>
          <p:cNvSpPr/>
          <p:nvPr/>
        </p:nvSpPr>
        <p:spPr>
          <a:xfrm>
            <a:off x="7397939" y="728663"/>
            <a:ext cx="1174561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SECTION 04 // ROADMAP</a:t>
            </a:r>
            <a:endParaRPr lang="en-US" sz="725" dirty="0"/>
          </a:p>
        </p:txBody>
      </p:sp>
      <p:sp>
        <p:nvSpPr>
          <p:cNvPr id="7" name="Shape 4"/>
          <p:cNvSpPr/>
          <p:nvPr/>
        </p:nvSpPr>
        <p:spPr>
          <a:xfrm>
            <a:off x="571500" y="2057400"/>
            <a:ext cx="2400300" cy="2294539"/>
          </a:xfrm>
          <a:prstGeom prst="rect">
            <a:avLst/>
          </a:prstGeom>
          <a:solidFill>
            <a:srgbClr val="FFFFFF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71500" y="2057400"/>
            <a:ext cx="2400300" cy="307181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9" name="Text 6"/>
          <p:cNvSpPr/>
          <p:nvPr/>
        </p:nvSpPr>
        <p:spPr>
          <a:xfrm>
            <a:off x="685800" y="2143125"/>
            <a:ext cx="467860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FFFFFF"/>
                </a:solidFill>
              </a:rPr>
              <a:t>PHASE_01</a:t>
            </a:r>
            <a:endParaRPr lang="en-US" sz="725" dirty="0"/>
          </a:p>
        </p:txBody>
      </p:sp>
      <p:sp>
        <p:nvSpPr>
          <p:cNvPr id="10" name="Text 7"/>
          <p:cNvSpPr/>
          <p:nvPr/>
        </p:nvSpPr>
        <p:spPr>
          <a:xfrm>
            <a:off x="2743060" y="2143125"/>
            <a:ext cx="114440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97316"/>
                </a:solidFill>
              </a:rPr>
              <a:t>01</a:t>
            </a:r>
            <a:endParaRPr lang="en-US" sz="685" dirty="0"/>
          </a:p>
        </p:txBody>
      </p:sp>
      <p:sp>
        <p:nvSpPr>
          <p:cNvPr id="11" name="Text 8"/>
          <p:cNvSpPr/>
          <p:nvPr/>
        </p:nvSpPr>
        <p:spPr>
          <a:xfrm>
            <a:off x="700088" y="2493169"/>
            <a:ext cx="2143125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协议层代码</a:t>
            </a:r>
            <a:r>
              <a:rPr lang="en-US" sz="1090" b="1" dirty="0">
                <a:solidFill>
                  <a:srgbClr val="0F172A"/>
                </a:solidFill>
              </a:rPr>
              <a:t>
</a:t>
            </a:r>
            <a:r>
              <a:rPr lang="en-US" sz="1090" b="1" dirty="0">
                <a:solidFill>
                  <a:srgbClr val="0F172A"/>
                </a:solidFill>
              </a:rPr>
              <a:t>与LLT编写</a:t>
            </a:r>
            <a:endParaRPr lang="en-US" sz="1090" dirty="0"/>
          </a:p>
        </p:txBody>
      </p:sp>
      <p:sp>
        <p:nvSpPr>
          <p:cNvPr id="12" name="Text 9"/>
          <p:cNvSpPr/>
          <p:nvPr/>
        </p:nvSpPr>
        <p:spPr>
          <a:xfrm>
            <a:off x="700088" y="3155752"/>
            <a:ext cx="2065660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参考PR #62实现核心协议逻辑，并建立测试</a:t>
            </a:r>
            <a:endParaRPr lang="en-US" sz="780" dirty="0"/>
          </a:p>
        </p:txBody>
      </p:sp>
      <p:sp>
        <p:nvSpPr>
          <p:cNvPr id="13" name="Text 10"/>
          <p:cNvSpPr/>
          <p:nvPr/>
        </p:nvSpPr>
        <p:spPr>
          <a:xfrm>
            <a:off x="700088" y="3327202"/>
            <a:ext cx="321469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基础。</a:t>
            </a:r>
            <a:endParaRPr lang="en-US" sz="780" dirty="0"/>
          </a:p>
        </p:txBody>
      </p:sp>
      <p:sp>
        <p:nvSpPr>
          <p:cNvPr id="14" name="Text 11"/>
          <p:cNvSpPr/>
          <p:nvPr/>
        </p:nvSpPr>
        <p:spPr>
          <a:xfrm>
            <a:off x="700088" y="3557588"/>
            <a:ext cx="2143125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334155"/>
                </a:solidFill>
              </a:rPr>
              <a:t>阅读参考PR代码变更</a:t>
            </a:r>
            <a:endParaRPr lang="en-US" sz="725" dirty="0"/>
          </a:p>
        </p:txBody>
      </p:sp>
      <p:sp>
        <p:nvSpPr>
          <p:cNvPr id="15" name="Text 12"/>
          <p:cNvSpPr/>
          <p:nvPr/>
        </p:nvSpPr>
        <p:spPr>
          <a:xfrm>
            <a:off x="700088" y="3774746"/>
            <a:ext cx="2143125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334155"/>
                </a:solidFill>
              </a:rPr>
              <a:t>实现 tftp_client_set_blksize</a:t>
            </a:r>
            <a:endParaRPr lang="en-US" sz="725" dirty="0"/>
          </a:p>
        </p:txBody>
      </p:sp>
      <p:sp>
        <p:nvSpPr>
          <p:cNvPr id="16" name="Text 13"/>
          <p:cNvSpPr/>
          <p:nvPr/>
        </p:nvSpPr>
        <p:spPr>
          <a:xfrm>
            <a:off x="700088" y="3991905"/>
            <a:ext cx="2143125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334155"/>
                </a:solidFill>
              </a:rPr>
              <a:t>编写LLT验证协议逻辑</a:t>
            </a:r>
            <a:endParaRPr lang="en-US" sz="725" dirty="0"/>
          </a:p>
        </p:txBody>
      </p:sp>
      <p:sp>
        <p:nvSpPr>
          <p:cNvPr id="17" name="Shape 14"/>
          <p:cNvSpPr/>
          <p:nvPr/>
        </p:nvSpPr>
        <p:spPr>
          <a:xfrm>
            <a:off x="3371850" y="2057400"/>
            <a:ext cx="2400300" cy="2294539"/>
          </a:xfrm>
          <a:prstGeom prst="rect">
            <a:avLst/>
          </a:prstGeom>
          <a:solidFill>
            <a:srgbClr val="FFFFFF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371850" y="2057400"/>
            <a:ext cx="2400300" cy="307181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19" name="Text 16"/>
          <p:cNvSpPr/>
          <p:nvPr/>
        </p:nvSpPr>
        <p:spPr>
          <a:xfrm>
            <a:off x="3486150" y="2143125"/>
            <a:ext cx="467860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FFFFFF"/>
                </a:solidFill>
              </a:rPr>
              <a:t>PHASE_02</a:t>
            </a:r>
            <a:endParaRPr lang="en-US" sz="725" dirty="0"/>
          </a:p>
        </p:txBody>
      </p:sp>
      <p:sp>
        <p:nvSpPr>
          <p:cNvPr id="20" name="Text 17"/>
          <p:cNvSpPr/>
          <p:nvPr/>
        </p:nvSpPr>
        <p:spPr>
          <a:xfrm>
            <a:off x="5543410" y="2143125"/>
            <a:ext cx="114440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97316"/>
                </a:solidFill>
              </a:rPr>
              <a:t>02</a:t>
            </a:r>
            <a:endParaRPr lang="en-US" sz="685" dirty="0"/>
          </a:p>
        </p:txBody>
      </p:sp>
      <p:sp>
        <p:nvSpPr>
          <p:cNvPr id="21" name="Text 18"/>
          <p:cNvSpPr/>
          <p:nvPr/>
        </p:nvSpPr>
        <p:spPr>
          <a:xfrm>
            <a:off x="3500438" y="2493169"/>
            <a:ext cx="2143125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功能完整实现</a:t>
            </a:r>
            <a:r>
              <a:rPr lang="en-US" sz="1090" b="1" dirty="0">
                <a:solidFill>
                  <a:srgbClr val="0F172A"/>
                </a:solidFill>
              </a:rPr>
              <a:t>
</a:t>
            </a:r>
            <a:r>
              <a:rPr lang="en-US" sz="1090" b="1" dirty="0">
                <a:solidFill>
                  <a:srgbClr val="0F172A"/>
                </a:solidFill>
              </a:rPr>
              <a:t>与测试验证</a:t>
            </a:r>
            <a:endParaRPr lang="en-US" sz="1090" dirty="0"/>
          </a:p>
        </p:txBody>
      </p:sp>
      <p:sp>
        <p:nvSpPr>
          <p:cNvPr id="22" name="Text 19"/>
          <p:cNvSpPr/>
          <p:nvPr/>
        </p:nvSpPr>
        <p:spPr>
          <a:xfrm>
            <a:off x="3500438" y="3155752"/>
            <a:ext cx="2035969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确保功能完备性与稳定性，通过所有测试用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3500438" y="3327202"/>
            <a:ext cx="214313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例。</a:t>
            </a:r>
            <a:endParaRPr lang="en-US" sz="780" dirty="0"/>
          </a:p>
        </p:txBody>
      </p:sp>
      <p:sp>
        <p:nvSpPr>
          <p:cNvPr id="24" name="Text 21"/>
          <p:cNvSpPr/>
          <p:nvPr/>
        </p:nvSpPr>
        <p:spPr>
          <a:xfrm>
            <a:off x="3500438" y="3557588"/>
            <a:ext cx="2143125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334155"/>
                </a:solidFill>
              </a:rPr>
              <a:t>通过所有LLT测试用例</a:t>
            </a:r>
            <a:endParaRPr lang="en-US" sz="725" dirty="0"/>
          </a:p>
        </p:txBody>
      </p:sp>
      <p:sp>
        <p:nvSpPr>
          <p:cNvPr id="25" name="Text 22"/>
          <p:cNvSpPr/>
          <p:nvPr/>
        </p:nvSpPr>
        <p:spPr>
          <a:xfrm>
            <a:off x="3500438" y="3774746"/>
            <a:ext cx="2143125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334155"/>
                </a:solidFill>
              </a:rPr>
              <a:t>验证协议协商流程</a:t>
            </a:r>
            <a:endParaRPr lang="en-US" sz="725" dirty="0"/>
          </a:p>
        </p:txBody>
      </p:sp>
      <p:sp>
        <p:nvSpPr>
          <p:cNvPr id="26" name="Text 23"/>
          <p:cNvSpPr/>
          <p:nvPr/>
        </p:nvSpPr>
        <p:spPr>
          <a:xfrm>
            <a:off x="3500438" y="3991905"/>
            <a:ext cx="2143125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334155"/>
                </a:solidFill>
              </a:rPr>
              <a:t>确保向后兼容性(512B)</a:t>
            </a:r>
            <a:endParaRPr lang="en-US" sz="725" dirty="0"/>
          </a:p>
        </p:txBody>
      </p:sp>
      <p:sp>
        <p:nvSpPr>
          <p:cNvPr id="27" name="Shape 24"/>
          <p:cNvSpPr/>
          <p:nvPr/>
        </p:nvSpPr>
        <p:spPr>
          <a:xfrm>
            <a:off x="6172200" y="2057400"/>
            <a:ext cx="2400300" cy="2280252"/>
          </a:xfrm>
          <a:prstGeom prst="rect">
            <a:avLst/>
          </a:prstGeom>
          <a:solidFill>
            <a:srgbClr val="FFFFFF"/>
          </a:solidFill>
          <a:ln w="9144">
            <a:solidFill>
              <a:srgbClr val="0F172A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172200" y="2057400"/>
            <a:ext cx="2400300" cy="307181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29" name="Text 26"/>
          <p:cNvSpPr/>
          <p:nvPr/>
        </p:nvSpPr>
        <p:spPr>
          <a:xfrm>
            <a:off x="6286500" y="2143125"/>
            <a:ext cx="467860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FFFFFF"/>
                </a:solidFill>
              </a:rPr>
              <a:t>PHASE_03</a:t>
            </a:r>
            <a:endParaRPr lang="en-US" sz="725" dirty="0"/>
          </a:p>
        </p:txBody>
      </p:sp>
      <p:sp>
        <p:nvSpPr>
          <p:cNvPr id="30" name="Text 27"/>
          <p:cNvSpPr/>
          <p:nvPr/>
        </p:nvSpPr>
        <p:spPr>
          <a:xfrm>
            <a:off x="8343760" y="2143125"/>
            <a:ext cx="114440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97316"/>
                </a:solidFill>
              </a:rPr>
              <a:t>03</a:t>
            </a:r>
            <a:endParaRPr lang="en-US" sz="685" dirty="0"/>
          </a:p>
        </p:txBody>
      </p:sp>
      <p:sp>
        <p:nvSpPr>
          <p:cNvPr id="31" name="Text 28"/>
          <p:cNvSpPr/>
          <p:nvPr/>
        </p:nvSpPr>
        <p:spPr>
          <a:xfrm>
            <a:off x="6300788" y="2493169"/>
            <a:ext cx="2143125" cy="42862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90" b="1" dirty="0">
                <a:solidFill>
                  <a:srgbClr val="0F172A"/>
                </a:solidFill>
              </a:rPr>
              <a:t>Web界面集成</a:t>
            </a:r>
            <a:r>
              <a:rPr lang="en-US" sz="1090" b="1" dirty="0">
                <a:solidFill>
                  <a:srgbClr val="0F172A"/>
                </a:solidFill>
              </a:rPr>
              <a:t>
</a:t>
            </a:r>
            <a:r>
              <a:rPr lang="en-US" sz="1090" b="1" dirty="0">
                <a:solidFill>
                  <a:srgbClr val="0F172A"/>
                </a:solidFill>
              </a:rPr>
              <a:t>与端到端验证</a:t>
            </a:r>
            <a:endParaRPr lang="en-US" sz="1090" dirty="0"/>
          </a:p>
        </p:txBody>
      </p:sp>
      <p:sp>
        <p:nvSpPr>
          <p:cNvPr id="32" name="Text 29"/>
          <p:cNvSpPr/>
          <p:nvPr/>
        </p:nvSpPr>
        <p:spPr>
          <a:xfrm>
            <a:off x="6300788" y="3155752"/>
            <a:ext cx="1928813" cy="14644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打通前后端数据流，交付最终用户功能。</a:t>
            </a:r>
            <a:endParaRPr lang="en-US" sz="780" dirty="0"/>
          </a:p>
        </p:txBody>
      </p:sp>
      <p:sp>
        <p:nvSpPr>
          <p:cNvPr id="33" name="Text 30"/>
          <p:cNvSpPr/>
          <p:nvPr/>
        </p:nvSpPr>
        <p:spPr>
          <a:xfrm>
            <a:off x="6300788" y="3386138"/>
            <a:ext cx="2143125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334155"/>
                </a:solidFill>
              </a:rPr>
              <a:t>新增Web配置选项</a:t>
            </a:r>
            <a:endParaRPr lang="en-US" sz="725" dirty="0"/>
          </a:p>
        </p:txBody>
      </p:sp>
      <p:sp>
        <p:nvSpPr>
          <p:cNvPr id="34" name="Text 31"/>
          <p:cNvSpPr/>
          <p:nvPr/>
        </p:nvSpPr>
        <p:spPr>
          <a:xfrm>
            <a:off x="6300788" y="3603296"/>
            <a:ext cx="2143125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334155"/>
                </a:solidFill>
              </a:rPr>
              <a:t>实现前后端参数传递</a:t>
            </a:r>
            <a:endParaRPr lang="en-US" sz="725" dirty="0"/>
          </a:p>
        </p:txBody>
      </p:sp>
      <p:sp>
        <p:nvSpPr>
          <p:cNvPr id="35" name="Text 32"/>
          <p:cNvSpPr/>
          <p:nvPr/>
        </p:nvSpPr>
        <p:spPr>
          <a:xfrm>
            <a:off x="6300788" y="3820455"/>
            <a:ext cx="2143125" cy="1600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25" dirty="0">
                <a:solidFill>
                  <a:srgbClr val="334155"/>
                </a:solidFill>
              </a:rPr>
              <a:t>端到端(E2E)功能验收</a:t>
            </a:r>
            <a:endParaRPr lang="en-US" sz="725" dirty="0"/>
          </a:p>
        </p:txBody>
      </p:sp>
      <p:sp>
        <p:nvSpPr>
          <p:cNvPr id="36" name="Shape 33"/>
          <p:cNvSpPr/>
          <p:nvPr/>
        </p:nvSpPr>
        <p:spPr>
          <a:xfrm>
            <a:off x="571500" y="4623402"/>
            <a:ext cx="8001000" cy="464344"/>
          </a:xfrm>
          <a:prstGeom prst="rect">
            <a:avLst/>
          </a:prstGeom>
          <a:solidFill>
            <a:srgbClr val="2563EB">
              <a:alpha val="5000"/>
            </a:srgbClr>
          </a:solidFill>
          <a:ln w="9144">
            <a:solidFill>
              <a:srgbClr val="2563EB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14375" y="4766277"/>
            <a:ext cx="800100" cy="16430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100"/>
              </a:lnSpc>
              <a:buNone/>
            </a:pPr>
            <a:r>
              <a:rPr lang="en-US" sz="785" b="1" dirty="0">
                <a:solidFill>
                  <a:srgbClr val="2563EB"/>
                </a:solidFill>
              </a:rPr>
              <a:t>渐进式验证策略</a:t>
            </a:r>
            <a:endParaRPr lang="en-US" sz="785" dirty="0"/>
          </a:p>
        </p:txBody>
      </p:sp>
      <p:sp>
        <p:nvSpPr>
          <p:cNvPr id="38" name="Text 35"/>
          <p:cNvSpPr/>
          <p:nvPr/>
        </p:nvSpPr>
        <p:spPr>
          <a:xfrm>
            <a:off x="1657350" y="4770741"/>
            <a:ext cx="6584193" cy="155377"/>
          </a:xfrm>
          <a:prstGeom prst="rect">
            <a:avLst/>
          </a:prstGeom>
          <a:noFill/>
        </p:spPr>
        <p:txBody>
          <a:bodyPr wrap="none" lIns="170053" tIns="0" rIns="0" bIns="0" rtlCol="0" anchor="t">
            <a:spAutoFit/>
          </a:bodyPr>
          <a:lstStyle/>
          <a:p>
            <a:pPr marL="0" indent="0" algn="l">
              <a:lnSpc>
                <a:spcPts val="1000"/>
              </a:lnSpc>
              <a:buNone/>
            </a:pPr>
            <a:r>
              <a:rPr lang="en-US" sz="780" dirty="0">
                <a:solidFill>
                  <a:srgbClr val="334155"/>
                </a:solidFill>
              </a:rPr>
              <a:t>每一步完成后都进行充分的测试验证，确保功能正确性后再进入下一步，降低集成风险。AI辅助生成的测试用例在此过程中起关键作用。</a:t>
            </a:r>
            <a:endParaRPr lang="en-US" sz="780" dirty="0"/>
          </a:p>
        </p:txBody>
      </p:sp>
      <p:sp>
        <p:nvSpPr>
          <p:cNvPr id="39" name="文本框 38"/>
          <p:cNvSpPr txBox="1"/>
          <p:nvPr/>
        </p:nvSpPr>
        <p:spPr>
          <a:xfrm>
            <a:off x="685800" y="1008380"/>
            <a:ext cx="7526655" cy="80899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Bef>
                <a:spcPct val="0"/>
              </a:spcBef>
              <a:spcAft>
                <a:spcPts val="800"/>
              </a:spcAft>
            </a:pPr>
            <a:r>
              <a:rPr lang="zh-CN" altLang="en-US" sz="800" b="1" i="0">
                <a:solidFill>
                  <a:srgbClr val="1F2328"/>
                </a:solidFill>
                <a:highlight>
                  <a:srgbClr val="FFFF00"/>
                </a:highlight>
                <a:latin typeface="-apple-system"/>
                <a:ea typeface="-apple-system"/>
              </a:rPr>
              <a:t>原始需求</a:t>
            </a:r>
            <a:r>
              <a:rPr lang="zh-CN" altLang="en-US" sz="800" b="0" i="0">
                <a:solidFill>
                  <a:srgbClr val="1F2328"/>
                </a:solidFill>
                <a:latin typeface="-apple-system"/>
                <a:ea typeface="-apple-system"/>
              </a:rPr>
              <a:t>：</a:t>
            </a:r>
            <a:r>
              <a:rPr lang="en-US" altLang="zh-CN" sz="800" b="0" i="0">
                <a:solidFill>
                  <a:srgbClr val="1F2328"/>
                </a:solidFill>
                <a:latin typeface="-apple-system"/>
                <a:ea typeface="-apple-system"/>
              </a:rPr>
              <a:t> The TFTP protocol uses a default block size of 512 bytes. This value is sub-optimal for ethernet devices, which have a MTU (Maximum Transmission Unit) of 1500 bytes. When taking into acount the overhead of the IP and UDP layers, this leaves 1468 bytes for the TFTP payload.</a:t>
            </a:r>
            <a:endParaRPr lang="en-US" altLang="zh-CN" sz="800" b="0" i="0">
              <a:solidFill>
                <a:srgbClr val="1F2328"/>
              </a:solidFill>
              <a:latin typeface="-apple-system"/>
              <a:ea typeface="-apple-system"/>
            </a:endParaRPr>
          </a:p>
          <a:p>
            <a:pPr marL="0" indent="0">
              <a:spcBef>
                <a:spcPct val="0"/>
              </a:spcBef>
              <a:spcAft>
                <a:spcPts val="800"/>
              </a:spcAft>
            </a:pPr>
            <a:r>
              <a:rPr lang="en-US" altLang="zh-CN" sz="800" b="0" i="0">
                <a:solidFill>
                  <a:srgbClr val="1F2328"/>
                </a:solidFill>
                <a:latin typeface="-apple-system"/>
                <a:ea typeface="-apple-system"/>
              </a:rPr>
              <a:t>This patch introduces a new function: tftp_client_set_blksize() which may be used to change the block size from the default. It has to be called after tftp_client_init() and before tftp_get(). If the server does not support the option, the client will still accept to receive 512-byte blocks.</a:t>
            </a:r>
            <a:endParaRPr lang="en-US" altLang="zh-CN" sz="800" b="0" i="0">
              <a:solidFill>
                <a:srgbClr val="1F2328"/>
              </a:solidFill>
              <a:latin typeface="-apple-system"/>
              <a:ea typeface="-apple-system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2"/>
          <p:cNvSpPr/>
          <p:nvPr/>
        </p:nvSpPr>
        <p:spPr>
          <a:xfrm>
            <a:off x="571500" y="428625"/>
            <a:ext cx="5043805" cy="3587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zh-CN" altLang="en-US" sz="2120" b="1" dirty="0">
                <a:solidFill>
                  <a:srgbClr val="0F172A"/>
                </a:solidFill>
              </a:rPr>
              <a:t>要开始任务了，</a:t>
            </a:r>
            <a:r>
              <a:rPr lang="zh-CN" altLang="en-US" sz="2120" b="1" dirty="0">
                <a:solidFill>
                  <a:srgbClr val="0F172A"/>
                </a:solidFill>
              </a:rPr>
              <a:t>先切换回开了</a:t>
            </a:r>
            <a:r>
              <a:rPr lang="en-US" altLang="zh-CN" sz="2120" b="1" dirty="0">
                <a:solidFill>
                  <a:srgbClr val="0F172A"/>
                </a:solidFill>
              </a:rPr>
              <a:t>claude</a:t>
            </a:r>
            <a:r>
              <a:rPr lang="zh-CN" altLang="en-US" sz="2120" b="1" dirty="0">
                <a:solidFill>
                  <a:srgbClr val="0F172A"/>
                </a:solidFill>
              </a:rPr>
              <a:t>的</a:t>
            </a:r>
            <a:r>
              <a:rPr lang="zh-CN" altLang="en-US" sz="2120" b="1" dirty="0">
                <a:solidFill>
                  <a:srgbClr val="0F172A"/>
                </a:solidFill>
              </a:rPr>
              <a:t>终端</a:t>
            </a:r>
            <a:endParaRPr lang="zh-CN" altLang="en-US" sz="2120" b="1" dirty="0">
              <a:solidFill>
                <a:srgbClr val="0F172A"/>
              </a:solidFill>
            </a:endParaRPr>
          </a:p>
        </p:txBody>
      </p:sp>
      <p:sp>
        <p:nvSpPr>
          <p:cNvPr id="59" name="Text 12"/>
          <p:cNvSpPr/>
          <p:nvPr/>
        </p:nvSpPr>
        <p:spPr>
          <a:xfrm>
            <a:off x="595313" y="1129807"/>
            <a:ext cx="4836160" cy="15367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lvl="0" algn="l">
              <a:lnSpc>
                <a:spcPts val="1200"/>
              </a:lnSpc>
              <a:buClrTx/>
              <a:buSzTx/>
              <a:buFontTx/>
            </a:pP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在终端的后边有开启的终端列表，点击可以切换，找到开了</a:t>
            </a:r>
            <a:r>
              <a:rPr lang="en-US" altLang="zh-CN" sz="1200" b="1" dirty="0">
                <a:solidFill>
                  <a:srgbClr val="2563EB"/>
                </a:solidFill>
                <a:sym typeface="+mn-ea"/>
              </a:rPr>
              <a:t>claude</a:t>
            </a: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的</a:t>
            </a:r>
            <a:r>
              <a:rPr lang="zh-CN" altLang="en-US" sz="1200" b="1" dirty="0">
                <a:solidFill>
                  <a:srgbClr val="2563EB"/>
                </a:solidFill>
                <a:sym typeface="+mn-ea"/>
              </a:rPr>
              <a:t>终端</a:t>
            </a:r>
            <a:endParaRPr lang="zh-CN" altLang="en-US" sz="1200" b="1" dirty="0">
              <a:solidFill>
                <a:srgbClr val="2563EB"/>
              </a:solidFill>
              <a:sym typeface="+mn-ea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065" y="1625600"/>
            <a:ext cx="7664450" cy="3035300"/>
          </a:xfrm>
          <a:prstGeom prst="rect">
            <a:avLst/>
          </a:prstGeom>
        </p:spPr>
      </p:pic>
      <p:cxnSp>
        <p:nvCxnSpPr>
          <p:cNvPr id="3" name="直接箭头连接符 2"/>
          <p:cNvCxnSpPr/>
          <p:nvPr/>
        </p:nvCxnSpPr>
        <p:spPr>
          <a:xfrm>
            <a:off x="5431790" y="1283335"/>
            <a:ext cx="1494790" cy="70548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447040"/>
            <a:ext cx="8001000" cy="557213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971550"/>
            <a:ext cx="8001000" cy="142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3913547" cy="4357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0" b="1" dirty="0">
                <a:solidFill>
                  <a:srgbClr val="0F172A"/>
                </a:solidFill>
              </a:rPr>
              <a:t>第一步: 实现协议层代码与LLT</a:t>
            </a:r>
            <a:endParaRPr lang="en-US" sz="2120" dirty="0"/>
          </a:p>
        </p:txBody>
      </p:sp>
      <p:sp>
        <p:nvSpPr>
          <p:cNvPr id="6" name="Text 3"/>
          <p:cNvSpPr/>
          <p:nvPr/>
        </p:nvSpPr>
        <p:spPr>
          <a:xfrm>
            <a:off x="7274123" y="728663"/>
            <a:ext cx="1298377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STEP 01 // PROTOCOL &amp; LLT</a:t>
            </a:r>
            <a:endParaRPr lang="en-US" sz="725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945" y="1979216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34695" y="1939925"/>
            <a:ext cx="281432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2563EB"/>
                </a:solidFill>
              </a:rPr>
              <a:t>prompt</a:t>
            </a:r>
            <a:r>
              <a:rPr lang="zh-CN" altLang="en-US" sz="1195" b="1" dirty="0">
                <a:solidFill>
                  <a:srgbClr val="2563EB"/>
                </a:solidFill>
              </a:rPr>
              <a:t>示例</a:t>
            </a:r>
            <a:r>
              <a:rPr lang="en-US" altLang="zh-CN" sz="1195" b="1" dirty="0">
                <a:solidFill>
                  <a:srgbClr val="2563EB"/>
                </a:solidFill>
              </a:rPr>
              <a:t>(</a:t>
            </a:r>
            <a:r>
              <a:rPr lang="zh-CN" altLang="en-US" sz="1195" b="1" dirty="0">
                <a:solidFill>
                  <a:srgbClr val="2563EB"/>
                </a:solidFill>
              </a:rPr>
              <a:t>可以直接拷贝到</a:t>
            </a:r>
            <a:r>
              <a:rPr lang="en-US" altLang="zh-CN" sz="1195" b="1" dirty="0">
                <a:solidFill>
                  <a:srgbClr val="2563EB"/>
                </a:solidFill>
              </a:rPr>
              <a:t>claude</a:t>
            </a:r>
            <a:r>
              <a:rPr lang="zh-CN" altLang="en-US" sz="1195" b="1" dirty="0">
                <a:solidFill>
                  <a:srgbClr val="2563EB"/>
                </a:solidFill>
              </a:rPr>
              <a:t>中下发</a:t>
            </a:r>
            <a:r>
              <a:rPr lang="en-US" altLang="zh-CN" sz="1195" b="1" dirty="0">
                <a:solidFill>
                  <a:srgbClr val="2563EB"/>
                </a:solidFill>
              </a:rPr>
              <a:t>)</a:t>
            </a:r>
            <a:endParaRPr lang="en-US" altLang="zh-CN" sz="1195" b="1" dirty="0">
              <a:solidFill>
                <a:srgbClr val="2563EB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446405" y="2296160"/>
            <a:ext cx="3293110" cy="27584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zh-CN" altLang="en-US" sz="1200" b="1"/>
              <a:t>任务</a:t>
            </a:r>
            <a:r>
              <a:rPr lang="zh-CN" altLang="en-US" sz="1200"/>
              <a:t>：实现一个需求。基于</a:t>
            </a:r>
            <a:r>
              <a:rPr lang="en-US" altLang="zh-CN" sz="1200"/>
              <a:t>TDD</a:t>
            </a:r>
            <a:r>
              <a:rPr lang="zh-CN" altLang="en-US" sz="1200"/>
              <a:t>模式，先实现</a:t>
            </a:r>
            <a:r>
              <a:rPr lang="en-US" altLang="zh-CN" sz="1200"/>
              <a:t>LLT</a:t>
            </a:r>
            <a:r>
              <a:rPr lang="zh-CN" altLang="en-US" sz="1200"/>
              <a:t>，暂不实现</a:t>
            </a:r>
            <a:r>
              <a:rPr lang="zh-CN" altLang="en-US" sz="1200"/>
              <a:t>业务代码</a:t>
            </a:r>
            <a:endParaRPr lang="zh-CN" altLang="en-US" sz="1200"/>
          </a:p>
          <a:p>
            <a:pPr marL="342900" indent="-342900">
              <a:buAutoNum type="arabicPeriod"/>
            </a:pPr>
            <a:r>
              <a:rPr lang="zh-CN" altLang="en-US" sz="1200" b="1"/>
              <a:t>注意</a:t>
            </a:r>
            <a:r>
              <a:rPr lang="zh-CN" altLang="en-US" sz="1200"/>
              <a:t>：由于业务代码还没实现，可以先通过一些空实现让用例能编过，但是不需要用例能成功；请充分考虑协议的</a:t>
            </a:r>
            <a:r>
              <a:rPr lang="zh-CN" altLang="en-US" sz="1200"/>
              <a:t>各个场景</a:t>
            </a:r>
            <a:endParaRPr lang="zh-CN" altLang="en-US" sz="1200"/>
          </a:p>
          <a:p>
            <a:pPr marL="342900" indent="-342900">
              <a:buAutoNum type="arabicPeriod"/>
            </a:pPr>
            <a:r>
              <a:rPr lang="zh-CN" altLang="en-US" sz="1200" b="1"/>
              <a:t>业务需求</a:t>
            </a:r>
            <a:r>
              <a:rPr lang="zh-CN" altLang="en-US" sz="1200"/>
              <a:t>：</a:t>
            </a:r>
            <a:endParaRPr lang="zh-CN" altLang="en-US" sz="1200"/>
          </a:p>
          <a:p>
            <a:pPr marL="0" indent="0">
              <a:spcBef>
                <a:spcPct val="0"/>
              </a:spcBef>
              <a:spcAft>
                <a:spcPts val="800"/>
              </a:spcAft>
            </a:pPr>
            <a:r>
              <a:rPr lang="en-US" altLang="zh-CN" sz="800">
                <a:solidFill>
                  <a:srgbClr val="1F2328"/>
                </a:solidFill>
                <a:latin typeface="-apple-system"/>
                <a:ea typeface="-apple-system"/>
                <a:sym typeface="+mn-ea"/>
              </a:rPr>
              <a:t>The TFTP protocol uses a default block size of 512 bytes. This value is sub-optimal for ethernet devices, which have a MTU (Maximum Transmission Unit) of 1500 bytes. When taking into acount the overhead of the IP and UDP layers, this leaves 1468 bytes for the TFTP payload.</a:t>
            </a:r>
            <a:endParaRPr lang="en-US" altLang="zh-CN" sz="800" b="0" i="0">
              <a:solidFill>
                <a:srgbClr val="1F2328"/>
              </a:solidFill>
              <a:latin typeface="-apple-system"/>
              <a:ea typeface="-apple-system"/>
            </a:endParaRPr>
          </a:p>
          <a:p>
            <a:pPr marL="0" indent="0">
              <a:spcBef>
                <a:spcPct val="0"/>
              </a:spcBef>
              <a:spcAft>
                <a:spcPts val="800"/>
              </a:spcAft>
            </a:pPr>
            <a:r>
              <a:rPr lang="en-US" altLang="zh-CN" sz="800">
                <a:solidFill>
                  <a:srgbClr val="1F2328"/>
                </a:solidFill>
                <a:latin typeface="-apple-system"/>
                <a:ea typeface="-apple-system"/>
                <a:sym typeface="+mn-ea"/>
              </a:rPr>
              <a:t>This patch introduces a new function: tftp_client_set_blksize() which may be used to change the block size from the default. It has to be called after tftp_client_init() and before tftp_get(). If the server does not support the option, the client will still accept to receive 512-byte blocks.</a:t>
            </a:r>
            <a:endParaRPr lang="en-US" altLang="zh-CN" sz="800">
              <a:solidFill>
                <a:srgbClr val="1F2328"/>
              </a:solidFill>
              <a:latin typeface="-apple-system"/>
              <a:ea typeface="-apple-system"/>
              <a:sym typeface="+mn-ea"/>
            </a:endParaRPr>
          </a:p>
          <a:p>
            <a:pPr marL="342900" indent="-342900">
              <a:buAutoNum type="arabicPeriod"/>
            </a:pPr>
            <a:endParaRPr lang="en-US" altLang="zh-CN" sz="800">
              <a:solidFill>
                <a:srgbClr val="1F2328"/>
              </a:solidFill>
              <a:latin typeface="-apple-system"/>
              <a:ea typeface="-apple-system"/>
              <a:sym typeface="+mn-ea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49910" y="3512820"/>
            <a:ext cx="3728720" cy="12668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0" indent="0">
              <a:spcBef>
                <a:spcPct val="0"/>
              </a:spcBef>
              <a:spcAft>
                <a:spcPts val="800"/>
              </a:spcAft>
            </a:pPr>
            <a:endParaRPr lang="en-US" altLang="zh-CN" sz="800">
              <a:solidFill>
                <a:srgbClr val="1F2328"/>
              </a:solidFill>
              <a:latin typeface="-apple-system"/>
              <a:ea typeface="-apple-system"/>
              <a:sym typeface="+mn-ea"/>
            </a:endParaRP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6350" y="3650615"/>
            <a:ext cx="3924300" cy="1403985"/>
          </a:xfrm>
          <a:prstGeom prst="rect">
            <a:avLst/>
          </a:prstGeom>
        </p:spPr>
      </p:pic>
      <p:sp>
        <p:nvSpPr>
          <p:cNvPr id="47" name="文本框 46"/>
          <p:cNvSpPr txBox="1"/>
          <p:nvPr/>
        </p:nvSpPr>
        <p:spPr>
          <a:xfrm>
            <a:off x="4647565" y="1292860"/>
            <a:ext cx="5441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下发任务</a:t>
            </a:r>
            <a:endParaRPr lang="zh-CN" altLang="en-US" b="1"/>
          </a:p>
        </p:txBody>
      </p:sp>
      <p:pic>
        <p:nvPicPr>
          <p:cNvPr id="49" name="图片 4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6350" y="1296670"/>
            <a:ext cx="3937000" cy="2032000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4647565" y="3650615"/>
            <a:ext cx="5441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执行结果</a:t>
            </a:r>
            <a:endParaRPr lang="zh-CN" altLang="en-US" b="1"/>
          </a:p>
        </p:txBody>
      </p:sp>
      <p:sp>
        <p:nvSpPr>
          <p:cNvPr id="51" name="文本框 50"/>
          <p:cNvSpPr txBox="1"/>
          <p:nvPr/>
        </p:nvSpPr>
        <p:spPr>
          <a:xfrm>
            <a:off x="5251450" y="1004570"/>
            <a:ext cx="327596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拷贝后鼠标右键即可粘贴，回车下发</a:t>
            </a:r>
            <a:endParaRPr lang="zh-CN" altLang="en-US" sz="1400"/>
          </a:p>
        </p:txBody>
      </p:sp>
      <p:sp>
        <p:nvSpPr>
          <p:cNvPr id="52" name="文本框 51"/>
          <p:cNvSpPr txBox="1"/>
          <p:nvPr/>
        </p:nvSpPr>
        <p:spPr>
          <a:xfrm>
            <a:off x="5296535" y="3328670"/>
            <a:ext cx="370268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用例的数量不固定，我们需要检查用例</a:t>
            </a:r>
            <a:r>
              <a:rPr lang="zh-CN" altLang="en-US" sz="1400"/>
              <a:t>质量</a:t>
            </a:r>
            <a:endParaRPr lang="zh-CN" altLang="en-US" sz="1400"/>
          </a:p>
        </p:txBody>
      </p:sp>
      <p:sp>
        <p:nvSpPr>
          <p:cNvPr id="2" name="Text 2"/>
          <p:cNvSpPr/>
          <p:nvPr/>
        </p:nvSpPr>
        <p:spPr>
          <a:xfrm>
            <a:off x="324485" y="1184275"/>
            <a:ext cx="3368040" cy="3587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zh-CN" altLang="en-US" b="1" dirty="0">
                <a:solidFill>
                  <a:srgbClr val="0F172A"/>
                </a:solidFill>
              </a:rPr>
              <a:t>回到开了</a:t>
            </a:r>
            <a:r>
              <a:rPr lang="en-US" altLang="zh-CN" b="1" dirty="0">
                <a:solidFill>
                  <a:srgbClr val="0F172A"/>
                </a:solidFill>
              </a:rPr>
              <a:t>claude</a:t>
            </a:r>
            <a:r>
              <a:rPr lang="zh-CN" altLang="en-US" b="1" dirty="0">
                <a:solidFill>
                  <a:srgbClr val="0F172A"/>
                </a:solidFill>
              </a:rPr>
              <a:t>的终端，下发任务</a:t>
            </a:r>
            <a:endParaRPr lang="zh-CN" altLang="en-US" b="1" dirty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57213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971550"/>
            <a:ext cx="8001000" cy="142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4210013" cy="4357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0" b="1" dirty="0">
                <a:solidFill>
                  <a:srgbClr val="0F172A"/>
                </a:solidFill>
              </a:rPr>
              <a:t>第二步: 完整实现并通过LLT验证</a:t>
            </a:r>
            <a:endParaRPr lang="en-US" sz="2120" dirty="0"/>
          </a:p>
        </p:txBody>
      </p:sp>
      <p:sp>
        <p:nvSpPr>
          <p:cNvPr id="6" name="Text 3"/>
          <p:cNvSpPr/>
          <p:nvPr/>
        </p:nvSpPr>
        <p:spPr>
          <a:xfrm>
            <a:off x="7227019" y="728663"/>
            <a:ext cx="1345481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SECTION 06 // VERIFICATION</a:t>
            </a:r>
            <a:endParaRPr lang="en-US" sz="725" dirty="0"/>
          </a:p>
        </p:txBody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1645206"/>
            <a:ext cx="214313" cy="171450"/>
          </a:xfrm>
          <a:prstGeom prst="rect">
            <a:avLst/>
          </a:prstGeom>
        </p:spPr>
      </p:pic>
      <p:sp>
        <p:nvSpPr>
          <p:cNvPr id="56" name="Text 4"/>
          <p:cNvSpPr/>
          <p:nvPr/>
        </p:nvSpPr>
        <p:spPr>
          <a:xfrm>
            <a:off x="1028700" y="1605915"/>
            <a:ext cx="77851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2563EB"/>
                </a:solidFill>
              </a:rPr>
              <a:t>prompt</a:t>
            </a:r>
            <a:r>
              <a:rPr lang="zh-CN" altLang="en-US" sz="1195" b="1" dirty="0">
                <a:solidFill>
                  <a:srgbClr val="2563EB"/>
                </a:solidFill>
              </a:rPr>
              <a:t>示例</a:t>
            </a:r>
            <a:endParaRPr lang="zh-CN" altLang="en-US" sz="1195" b="1" dirty="0">
              <a:solidFill>
                <a:srgbClr val="2563EB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40410" y="1962150"/>
            <a:ext cx="3293110" cy="33896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zh-CN" altLang="en-US" sz="1200" b="1"/>
              <a:t>任务</a:t>
            </a:r>
            <a:r>
              <a:rPr lang="zh-CN" altLang="en-US" sz="1200"/>
              <a:t>：实现业务代码，请仔细理解业务</a:t>
            </a:r>
            <a:r>
              <a:rPr lang="zh-CN" altLang="en-US" sz="1200"/>
              <a:t>需求</a:t>
            </a:r>
            <a:endParaRPr lang="zh-CN" altLang="en-US" sz="1200"/>
          </a:p>
          <a:p>
            <a:pPr marL="342900" indent="-342900">
              <a:buAutoNum type="arabicPeriod"/>
            </a:pPr>
            <a:r>
              <a:rPr lang="zh-CN" altLang="en-US" sz="1200" b="1"/>
              <a:t>注意</a:t>
            </a:r>
            <a:r>
              <a:rPr lang="zh-CN" altLang="en-US" sz="1200"/>
              <a:t>：</a:t>
            </a:r>
            <a:r>
              <a:rPr lang="en-US" altLang="zh-CN" sz="1200"/>
              <a:t>TDD</a:t>
            </a:r>
            <a:r>
              <a:rPr lang="zh-CN" altLang="en-US" sz="1200"/>
              <a:t>模式，</a:t>
            </a:r>
            <a:r>
              <a:rPr lang="en-US" altLang="zh-CN" sz="1200"/>
              <a:t>LLT</a:t>
            </a:r>
            <a:r>
              <a:rPr lang="zh-CN" altLang="en-US" sz="1200"/>
              <a:t>用例已开发，要让</a:t>
            </a:r>
            <a:r>
              <a:rPr lang="en-US" altLang="zh-CN" sz="1200"/>
              <a:t>LLT</a:t>
            </a:r>
            <a:r>
              <a:rPr lang="zh-CN" altLang="en-US" sz="1200"/>
              <a:t>用例通过，如果需要修改</a:t>
            </a:r>
            <a:r>
              <a:rPr lang="en-US" altLang="zh-CN" sz="1200"/>
              <a:t>LLT</a:t>
            </a:r>
            <a:r>
              <a:rPr lang="zh-CN" altLang="en-US" sz="1200"/>
              <a:t>用例，要征求用户同意；如果遇到</a:t>
            </a:r>
            <a:r>
              <a:rPr lang="en-US" altLang="zh-CN" sz="1200"/>
              <a:t>LLT</a:t>
            </a:r>
            <a:r>
              <a:rPr lang="zh-CN" altLang="en-US" sz="1200"/>
              <a:t>用例不通过的问题，可以通过加打印的方式</a:t>
            </a:r>
            <a:r>
              <a:rPr lang="zh-CN" altLang="en-US" sz="1200"/>
              <a:t>调试</a:t>
            </a:r>
            <a:endParaRPr lang="zh-CN" altLang="en-US" sz="1200"/>
          </a:p>
          <a:p>
            <a:pPr marL="342900" indent="-342900">
              <a:buAutoNum type="arabicPeriod"/>
            </a:pPr>
            <a:r>
              <a:rPr lang="zh-CN" altLang="en-US" sz="1200" b="1"/>
              <a:t>业务需求</a:t>
            </a:r>
            <a:r>
              <a:rPr lang="zh-CN" altLang="en-US" sz="1200"/>
              <a:t>：</a:t>
            </a:r>
            <a:endParaRPr lang="zh-CN" altLang="en-US" sz="1200"/>
          </a:p>
          <a:p>
            <a:pPr marL="0" indent="0">
              <a:spcBef>
                <a:spcPct val="0"/>
              </a:spcBef>
              <a:spcAft>
                <a:spcPts val="800"/>
              </a:spcAft>
            </a:pPr>
            <a:r>
              <a:rPr lang="en-US" altLang="zh-CN" sz="900">
                <a:solidFill>
                  <a:srgbClr val="1F2328"/>
                </a:solidFill>
                <a:latin typeface="-apple-system"/>
                <a:ea typeface="-apple-system"/>
                <a:sym typeface="+mn-ea"/>
              </a:rPr>
              <a:t>The TFTP protocol uses a default block size of 512 bytes. This value is sub-optimal for ethernet devices, which have a MTU (Maximum Transmission Unit) of 1500 bytes. When taking into acount the overhead of the IP and UDP layers, this leaves 1468 bytes for the TFTP payload.</a:t>
            </a:r>
            <a:endParaRPr lang="en-US" altLang="zh-CN" sz="900" b="0" i="0">
              <a:solidFill>
                <a:srgbClr val="1F2328"/>
              </a:solidFill>
              <a:latin typeface="-apple-system"/>
              <a:ea typeface="-apple-system"/>
            </a:endParaRPr>
          </a:p>
          <a:p>
            <a:pPr marL="0" indent="0">
              <a:spcBef>
                <a:spcPct val="0"/>
              </a:spcBef>
              <a:spcAft>
                <a:spcPts val="800"/>
              </a:spcAft>
            </a:pPr>
            <a:r>
              <a:rPr lang="en-US" altLang="zh-CN" sz="900">
                <a:solidFill>
                  <a:srgbClr val="1F2328"/>
                </a:solidFill>
                <a:latin typeface="-apple-system"/>
                <a:ea typeface="-apple-system"/>
                <a:sym typeface="+mn-ea"/>
              </a:rPr>
              <a:t>This patch introduces a new function: tftp_client_set_blksize() which may be used to change the block size from the default. It has to be called after tftp_client_init() and before tftp_get(). If the server does not support the option, the client will still accept to receive 512-byte blocks.</a:t>
            </a:r>
            <a:endParaRPr lang="en-US" altLang="zh-CN" sz="900">
              <a:solidFill>
                <a:srgbClr val="1F2328"/>
              </a:solidFill>
              <a:latin typeface="-apple-system"/>
              <a:ea typeface="-apple-system"/>
              <a:sym typeface="+mn-ea"/>
            </a:endParaRPr>
          </a:p>
          <a:p>
            <a:pPr marL="342900" indent="-342900">
              <a:buAutoNum type="arabicPeriod"/>
            </a:pPr>
            <a:endParaRPr lang="en-US" altLang="zh-CN" sz="900">
              <a:solidFill>
                <a:srgbClr val="1F2328"/>
              </a:solidFill>
              <a:latin typeface="-apple-system"/>
              <a:ea typeface="-apple-system"/>
              <a:sym typeface="+mn-ea"/>
            </a:endParaRPr>
          </a:p>
        </p:txBody>
      </p:sp>
      <p:cxnSp>
        <p:nvCxnSpPr>
          <p:cNvPr id="59" name="直接连接符 58"/>
          <p:cNvCxnSpPr/>
          <p:nvPr/>
        </p:nvCxnSpPr>
        <p:spPr>
          <a:xfrm>
            <a:off x="485140" y="1520825"/>
            <a:ext cx="0" cy="1821815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60" name="图片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660" y="1337945"/>
            <a:ext cx="3905250" cy="1446530"/>
          </a:xfrm>
          <a:prstGeom prst="rect">
            <a:avLst/>
          </a:prstGeom>
        </p:spPr>
      </p:pic>
      <p:pic>
        <p:nvPicPr>
          <p:cNvPr id="61" name="图片 6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7000" y="3136265"/>
            <a:ext cx="3799205" cy="1605915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4647565" y="1292860"/>
            <a:ext cx="5441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下发任务</a:t>
            </a:r>
            <a:endParaRPr lang="zh-CN" altLang="en-US" b="1"/>
          </a:p>
        </p:txBody>
      </p:sp>
      <p:sp>
        <p:nvSpPr>
          <p:cNvPr id="63" name="文本框 62"/>
          <p:cNvSpPr txBox="1"/>
          <p:nvPr/>
        </p:nvSpPr>
        <p:spPr>
          <a:xfrm>
            <a:off x="4647565" y="3650615"/>
            <a:ext cx="5441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执行结果</a:t>
            </a:r>
            <a:endParaRPr lang="zh-CN" altLang="en-US" b="1"/>
          </a:p>
        </p:txBody>
      </p:sp>
      <p:sp>
        <p:nvSpPr>
          <p:cNvPr id="7" name="Text 2"/>
          <p:cNvSpPr/>
          <p:nvPr/>
        </p:nvSpPr>
        <p:spPr>
          <a:xfrm>
            <a:off x="485140" y="1056005"/>
            <a:ext cx="3139440" cy="3587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zh-CN" altLang="en-US" b="1" dirty="0">
                <a:solidFill>
                  <a:srgbClr val="0F172A"/>
                </a:solidFill>
              </a:rPr>
              <a:t>在开了</a:t>
            </a:r>
            <a:r>
              <a:rPr lang="en-US" altLang="zh-CN" b="1" dirty="0">
                <a:solidFill>
                  <a:srgbClr val="0F172A"/>
                </a:solidFill>
              </a:rPr>
              <a:t>claude</a:t>
            </a:r>
            <a:r>
              <a:rPr lang="zh-CN" altLang="en-US" b="1" dirty="0">
                <a:solidFill>
                  <a:srgbClr val="0F172A"/>
                </a:solidFill>
              </a:rPr>
              <a:t>的终端，下发任务</a:t>
            </a:r>
            <a:endParaRPr lang="zh-CN" altLang="en-US" b="1" dirty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571500" y="428625"/>
            <a:ext cx="8001000" cy="557213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971550"/>
            <a:ext cx="8001000" cy="142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4659511" cy="4357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0" b="1" dirty="0">
                <a:solidFill>
                  <a:srgbClr val="0F172A"/>
                </a:solidFill>
              </a:rPr>
              <a:t>第三步: Web界面集成与端到端验证</a:t>
            </a:r>
            <a:endParaRPr lang="en-US" sz="2120" dirty="0"/>
          </a:p>
        </p:txBody>
      </p:sp>
      <p:sp>
        <p:nvSpPr>
          <p:cNvPr id="6" name="Text 3"/>
          <p:cNvSpPr/>
          <p:nvPr/>
        </p:nvSpPr>
        <p:spPr>
          <a:xfrm>
            <a:off x="7339924" y="728663"/>
            <a:ext cx="1232576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PHASE 03 // INTEGRATION</a:t>
            </a:r>
            <a:endParaRPr lang="en-US" sz="725" dirty="0"/>
          </a:p>
        </p:txBody>
      </p:sp>
      <p:pic>
        <p:nvPicPr>
          <p:cNvPr id="55" name="Image 1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1473756"/>
            <a:ext cx="214313" cy="171450"/>
          </a:xfrm>
          <a:prstGeom prst="rect">
            <a:avLst/>
          </a:prstGeom>
        </p:spPr>
      </p:pic>
      <p:sp>
        <p:nvSpPr>
          <p:cNvPr id="56" name="Text 4"/>
          <p:cNvSpPr/>
          <p:nvPr/>
        </p:nvSpPr>
        <p:spPr>
          <a:xfrm>
            <a:off x="1028700" y="1434465"/>
            <a:ext cx="778510" cy="20510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2563EB"/>
                </a:solidFill>
              </a:rPr>
              <a:t>prompt</a:t>
            </a:r>
            <a:r>
              <a:rPr lang="zh-CN" altLang="en-US" sz="1195" b="1" dirty="0">
                <a:solidFill>
                  <a:srgbClr val="2563EB"/>
                </a:solidFill>
              </a:rPr>
              <a:t>示例</a:t>
            </a:r>
            <a:endParaRPr lang="zh-CN" altLang="en-US" sz="1195" b="1" dirty="0">
              <a:solidFill>
                <a:srgbClr val="2563EB"/>
              </a:solidFill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740410" y="1790700"/>
            <a:ext cx="3293110" cy="357441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buAutoNum type="arabicPeriod"/>
            </a:pPr>
            <a:r>
              <a:rPr lang="zh-CN" altLang="en-US" sz="1200" b="1"/>
              <a:t>任务</a:t>
            </a:r>
            <a:r>
              <a:rPr lang="zh-CN" altLang="en-US" sz="1200"/>
              <a:t>：实现前端界面，支持用户在网页上修改</a:t>
            </a:r>
            <a:r>
              <a:rPr lang="en-US" altLang="zh-CN" sz="1200"/>
              <a:t>blocksize</a:t>
            </a:r>
            <a:r>
              <a:rPr lang="zh-CN" altLang="en-US" sz="1200"/>
              <a:t>的</a:t>
            </a:r>
            <a:r>
              <a:rPr lang="zh-CN" altLang="en-US" sz="1200"/>
              <a:t>值</a:t>
            </a:r>
            <a:endParaRPr lang="zh-CN" altLang="en-US" sz="1200"/>
          </a:p>
          <a:p>
            <a:pPr marL="342900" indent="-342900">
              <a:buAutoNum type="arabicPeriod"/>
            </a:pPr>
            <a:r>
              <a:rPr lang="zh-CN" altLang="en-US" sz="1200" b="1"/>
              <a:t>背景</a:t>
            </a:r>
            <a:r>
              <a:rPr lang="zh-CN" altLang="en-US" sz="1200"/>
              <a:t>：</a:t>
            </a:r>
            <a:r>
              <a:rPr lang="en-US" altLang="zh-CN" sz="1200"/>
              <a:t>simple_ont</a:t>
            </a:r>
            <a:r>
              <a:rPr lang="zh-CN" altLang="en-US" sz="1200"/>
              <a:t>已经有一个简单的前端</a:t>
            </a:r>
            <a:r>
              <a:rPr lang="zh-CN" altLang="en-US" sz="1200"/>
              <a:t>页面</a:t>
            </a:r>
            <a:endParaRPr lang="zh-CN" altLang="en-US" sz="1200"/>
          </a:p>
          <a:p>
            <a:pPr marL="342900" indent="-342900">
              <a:buAutoNum type="arabicPeriod"/>
            </a:pPr>
            <a:r>
              <a:rPr lang="zh-CN" altLang="en-US" sz="1200" b="1"/>
              <a:t>注意</a:t>
            </a:r>
            <a:r>
              <a:rPr lang="zh-CN" altLang="en-US" sz="1200"/>
              <a:t>：如果用户提供了界面设计，请根据用户的设计来开发界面；否则你就需要自己来设计前端页面</a:t>
            </a:r>
            <a:endParaRPr lang="zh-CN" altLang="en-US" sz="1200"/>
          </a:p>
          <a:p>
            <a:pPr marL="342900" indent="-342900">
              <a:buAutoNum type="arabicPeriod"/>
            </a:pPr>
            <a:r>
              <a:rPr lang="zh-CN" altLang="en-US" sz="1200" b="1"/>
              <a:t>原始业务需求</a:t>
            </a:r>
            <a:r>
              <a:rPr lang="zh-CN" altLang="en-US" sz="1200"/>
              <a:t>：</a:t>
            </a:r>
            <a:endParaRPr lang="zh-CN" altLang="en-US" sz="1200"/>
          </a:p>
          <a:p>
            <a:pPr marL="0" indent="0">
              <a:spcBef>
                <a:spcPct val="0"/>
              </a:spcBef>
              <a:spcAft>
                <a:spcPts val="800"/>
              </a:spcAft>
            </a:pPr>
            <a:r>
              <a:rPr lang="en-US" altLang="zh-CN" sz="900">
                <a:solidFill>
                  <a:srgbClr val="1F2328"/>
                </a:solidFill>
                <a:latin typeface="-apple-system"/>
                <a:ea typeface="-apple-system"/>
                <a:sym typeface="+mn-ea"/>
              </a:rPr>
              <a:t>The TFTP protocol uses a default block size of 512 bytes. This value is sub-optimal for ethernet devices, which have a MTU (Maximum Transmission Unit) of 1500 bytes. When taking into acount the overhead of the IP and UDP layers, this leaves 1468 bytes for the TFTP payload.</a:t>
            </a:r>
            <a:endParaRPr lang="en-US" altLang="zh-CN" sz="900" b="0" i="0">
              <a:solidFill>
                <a:srgbClr val="1F2328"/>
              </a:solidFill>
              <a:latin typeface="-apple-system"/>
              <a:ea typeface="-apple-system"/>
            </a:endParaRPr>
          </a:p>
          <a:p>
            <a:pPr marL="0" indent="0">
              <a:spcBef>
                <a:spcPct val="0"/>
              </a:spcBef>
              <a:spcAft>
                <a:spcPts val="800"/>
              </a:spcAft>
            </a:pPr>
            <a:r>
              <a:rPr lang="en-US" altLang="zh-CN" sz="900">
                <a:solidFill>
                  <a:srgbClr val="1F2328"/>
                </a:solidFill>
                <a:latin typeface="-apple-system"/>
                <a:ea typeface="-apple-system"/>
                <a:sym typeface="+mn-ea"/>
              </a:rPr>
              <a:t>This patch introduces a new function: tftp_client_set_blksize() which may be used to change the block size from the default. It has to be called after tftp_client_init() and before tftp_get(). If the server does not support the option, the client will still accept to receive 512-byte blocks.</a:t>
            </a:r>
            <a:endParaRPr lang="en-US" altLang="zh-CN" sz="900">
              <a:solidFill>
                <a:srgbClr val="1F2328"/>
              </a:solidFill>
              <a:latin typeface="-apple-system"/>
              <a:ea typeface="-apple-system"/>
              <a:sym typeface="+mn-ea"/>
            </a:endParaRPr>
          </a:p>
          <a:p>
            <a:pPr marL="342900" indent="-342900">
              <a:buAutoNum type="arabicPeriod"/>
            </a:pPr>
            <a:endParaRPr lang="en-US" altLang="zh-CN" sz="900">
              <a:solidFill>
                <a:srgbClr val="1F2328"/>
              </a:solidFill>
              <a:latin typeface="-apple-system"/>
              <a:ea typeface="-apple-system"/>
              <a:sym typeface="+mn-ea"/>
            </a:endParaRPr>
          </a:p>
        </p:txBody>
      </p:sp>
      <p:cxnSp>
        <p:nvCxnSpPr>
          <p:cNvPr id="59" name="直接连接符 58"/>
          <p:cNvCxnSpPr/>
          <p:nvPr/>
        </p:nvCxnSpPr>
        <p:spPr>
          <a:xfrm>
            <a:off x="485140" y="1697990"/>
            <a:ext cx="0" cy="1821815"/>
          </a:xfrm>
          <a:prstGeom prst="line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51" name="图片 5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5515" y="1242060"/>
            <a:ext cx="4313555" cy="1214120"/>
          </a:xfrm>
          <a:prstGeom prst="rect">
            <a:avLst/>
          </a:prstGeom>
        </p:spPr>
      </p:pic>
      <p:pic>
        <p:nvPicPr>
          <p:cNvPr id="52" name="图片 5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4415" y="3025775"/>
            <a:ext cx="4197985" cy="2022475"/>
          </a:xfrm>
          <a:prstGeom prst="rect">
            <a:avLst/>
          </a:prstGeom>
        </p:spPr>
      </p:pic>
      <p:sp>
        <p:nvSpPr>
          <p:cNvPr id="53" name="文本框 52"/>
          <p:cNvSpPr txBox="1"/>
          <p:nvPr/>
        </p:nvSpPr>
        <p:spPr>
          <a:xfrm>
            <a:off x="4300220" y="1257300"/>
            <a:ext cx="5441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下发任务</a:t>
            </a:r>
            <a:endParaRPr lang="zh-CN" altLang="en-US" b="1"/>
          </a:p>
        </p:txBody>
      </p:sp>
      <p:sp>
        <p:nvSpPr>
          <p:cNvPr id="58" name="文本框 57"/>
          <p:cNvSpPr txBox="1"/>
          <p:nvPr/>
        </p:nvSpPr>
        <p:spPr>
          <a:xfrm>
            <a:off x="4383405" y="3791585"/>
            <a:ext cx="54419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执行结果</a:t>
            </a:r>
            <a:endParaRPr lang="zh-CN" altLang="en-US" b="1"/>
          </a:p>
        </p:txBody>
      </p:sp>
      <p:sp>
        <p:nvSpPr>
          <p:cNvPr id="60" name="文本框 59"/>
          <p:cNvSpPr txBox="1"/>
          <p:nvPr/>
        </p:nvSpPr>
        <p:spPr>
          <a:xfrm>
            <a:off x="4825365" y="989965"/>
            <a:ext cx="391668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提醒</a:t>
            </a:r>
            <a:r>
              <a:rPr lang="en-US" altLang="zh-CN" sz="1400"/>
              <a:t>1</a:t>
            </a:r>
            <a:r>
              <a:rPr lang="zh-CN" altLang="en-US" sz="1400"/>
              <a:t>：可以提供界面设计图，要求按图</a:t>
            </a:r>
            <a:r>
              <a:rPr lang="zh-CN" altLang="en-US" sz="1400"/>
              <a:t>生成</a:t>
            </a:r>
            <a:endParaRPr lang="zh-CN" altLang="en-US" sz="1400"/>
          </a:p>
        </p:txBody>
      </p:sp>
      <p:sp>
        <p:nvSpPr>
          <p:cNvPr id="7" name="Text 2"/>
          <p:cNvSpPr/>
          <p:nvPr/>
        </p:nvSpPr>
        <p:spPr>
          <a:xfrm>
            <a:off x="485140" y="1056005"/>
            <a:ext cx="3139440" cy="3587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zh-CN" altLang="en-US" b="1" dirty="0">
                <a:solidFill>
                  <a:srgbClr val="0F172A"/>
                </a:solidFill>
              </a:rPr>
              <a:t>在开了</a:t>
            </a:r>
            <a:r>
              <a:rPr lang="en-US" altLang="zh-CN" b="1" dirty="0">
                <a:solidFill>
                  <a:srgbClr val="0F172A"/>
                </a:solidFill>
              </a:rPr>
              <a:t>claude</a:t>
            </a:r>
            <a:r>
              <a:rPr lang="zh-CN" altLang="en-US" b="1" dirty="0">
                <a:solidFill>
                  <a:srgbClr val="0F172A"/>
                </a:solidFill>
              </a:rPr>
              <a:t>的终端，下发任务</a:t>
            </a:r>
            <a:endParaRPr lang="zh-CN" altLang="en-US" b="1" dirty="0">
              <a:solidFill>
                <a:srgbClr val="0F172A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844415" y="2571750"/>
            <a:ext cx="436562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400"/>
              <a:t>提醒</a:t>
            </a:r>
            <a:r>
              <a:rPr lang="en-US" altLang="zh-CN" sz="1400"/>
              <a:t>2</a:t>
            </a:r>
            <a:r>
              <a:rPr lang="zh-CN" altLang="en-US" sz="1400"/>
              <a:t>：重新编译并启动</a:t>
            </a:r>
            <a:r>
              <a:rPr lang="en-US" altLang="zh-CN" sz="1400"/>
              <a:t>simple_ont</a:t>
            </a:r>
            <a:r>
              <a:rPr lang="zh-CN" altLang="en-US" sz="1400"/>
              <a:t>，刷新</a:t>
            </a:r>
            <a:r>
              <a:rPr lang="zh-CN" altLang="en-US" sz="1400"/>
              <a:t>网页</a:t>
            </a:r>
            <a:endParaRPr lang="zh-CN" alt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ext 2"/>
          <p:cNvSpPr/>
          <p:nvPr/>
        </p:nvSpPr>
        <p:spPr>
          <a:xfrm>
            <a:off x="571500" y="428625"/>
            <a:ext cx="7074535" cy="717550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zh-CN" altLang="en-US" sz="2120" b="1" dirty="0">
                <a:solidFill>
                  <a:srgbClr val="0F172A"/>
                </a:solidFill>
              </a:rPr>
              <a:t>样例答案介绍</a:t>
            </a:r>
            <a:r>
              <a:rPr lang="en-US" altLang="zh-CN" sz="2120" b="1" dirty="0">
                <a:solidFill>
                  <a:srgbClr val="0F172A"/>
                </a:solidFill>
              </a:rPr>
              <a:t>:</a:t>
            </a:r>
            <a:r>
              <a:rPr lang="zh-CN" altLang="en-US" sz="2120" dirty="0">
                <a:solidFill>
                  <a:srgbClr val="0F172A"/>
                </a:solidFill>
                <a:sym typeface="+mn-ea"/>
              </a:rPr>
              <a:t>有提前做好的样例答案，切换分支后可以查看</a:t>
            </a:r>
            <a:endParaRPr lang="zh-CN" altLang="en-US" sz="2120" dirty="0">
              <a:solidFill>
                <a:srgbClr val="0F172A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endParaRPr lang="en-US" altLang="zh-CN" sz="2120" b="1" dirty="0">
              <a:solidFill>
                <a:srgbClr val="0F172A"/>
              </a:solidFill>
            </a:endParaRPr>
          </a:p>
        </p:txBody>
      </p:sp>
      <p:sp>
        <p:nvSpPr>
          <p:cNvPr id="2" name="Text 2"/>
          <p:cNvSpPr/>
          <p:nvPr/>
        </p:nvSpPr>
        <p:spPr>
          <a:xfrm>
            <a:off x="485140" y="797560"/>
            <a:ext cx="4975860" cy="3587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altLang="zh-CN" sz="1400" dirty="0">
                <a:solidFill>
                  <a:srgbClr val="0F172A"/>
                </a:solidFill>
              </a:rPr>
              <a:t>step1</a:t>
            </a:r>
            <a:r>
              <a:rPr lang="zh-CN" altLang="en-US" sz="1400" dirty="0">
                <a:solidFill>
                  <a:srgbClr val="0F172A"/>
                </a:solidFill>
              </a:rPr>
              <a:t>：切换到</a:t>
            </a:r>
            <a:r>
              <a:rPr lang="en-US" altLang="zh-CN" sz="1400" dirty="0">
                <a:solidFill>
                  <a:srgbClr val="0F172A"/>
                </a:solidFill>
              </a:rPr>
              <a:t>test_czk</a:t>
            </a:r>
            <a:r>
              <a:rPr lang="zh-CN" altLang="en-US" sz="1400" dirty="0">
                <a:solidFill>
                  <a:srgbClr val="0F172A"/>
                </a:solidFill>
              </a:rPr>
              <a:t>分支，在命令行中执行</a:t>
            </a:r>
            <a:r>
              <a:rPr lang="en-US" altLang="zh-CN" sz="1400" dirty="0">
                <a:solidFill>
                  <a:srgbClr val="0F172A"/>
                </a:solidFill>
              </a:rPr>
              <a:t>git checkout test_czk</a:t>
            </a:r>
            <a:endParaRPr lang="en-US" altLang="zh-CN" sz="1400" dirty="0">
              <a:solidFill>
                <a:srgbClr val="0F172A"/>
              </a:solidFill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370" y="1202055"/>
            <a:ext cx="4298950" cy="552450"/>
          </a:xfrm>
          <a:prstGeom prst="rect">
            <a:avLst/>
          </a:prstGeom>
        </p:spPr>
      </p:pic>
      <p:sp>
        <p:nvSpPr>
          <p:cNvPr id="4" name="Text 2"/>
          <p:cNvSpPr/>
          <p:nvPr/>
        </p:nvSpPr>
        <p:spPr>
          <a:xfrm>
            <a:off x="485140" y="1657350"/>
            <a:ext cx="1818640" cy="35877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altLang="zh-CN" sz="1400" dirty="0">
                <a:solidFill>
                  <a:srgbClr val="0F172A"/>
                </a:solidFill>
              </a:rPr>
              <a:t>step2</a:t>
            </a:r>
            <a:r>
              <a:rPr lang="zh-CN" altLang="en-US" sz="1400" dirty="0">
                <a:solidFill>
                  <a:srgbClr val="0F172A"/>
                </a:solidFill>
              </a:rPr>
              <a:t>：关掉其他的</a:t>
            </a:r>
            <a:r>
              <a:rPr lang="zh-CN" altLang="en-US" sz="1400" dirty="0">
                <a:solidFill>
                  <a:srgbClr val="0F172A"/>
                </a:solidFill>
              </a:rPr>
              <a:t>终端</a:t>
            </a:r>
            <a:endParaRPr lang="zh-CN" altLang="en-US" sz="1400" dirty="0">
              <a:solidFill>
                <a:srgbClr val="0F172A"/>
              </a:solidFill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895" y="2016125"/>
            <a:ext cx="8621395" cy="1448435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485140" y="3518535"/>
            <a:ext cx="8759825" cy="4883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altLang="zh-CN" sz="1400" dirty="0">
                <a:solidFill>
                  <a:srgbClr val="0F172A"/>
                </a:solidFill>
              </a:rPr>
              <a:t>step3</a:t>
            </a:r>
            <a:r>
              <a:rPr lang="zh-CN" altLang="en-US" sz="1400" dirty="0">
                <a:solidFill>
                  <a:srgbClr val="0F172A"/>
                </a:solidFill>
              </a:rPr>
              <a:t>：重新编译并运行，在终端执行</a:t>
            </a:r>
            <a:r>
              <a:rPr lang="en-US" altLang="zh-CN" sz="1400" dirty="0">
                <a:sym typeface="+mn-ea"/>
              </a:rPr>
              <a:t>cd /workspaces/lwip/ &amp;&amp; mkdir build &amp;&amp;  cd build &amp;&amp; cmake .. &amp;&amp; make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endParaRPr lang="zh-CN" altLang="en-US" sz="1400" dirty="0">
              <a:solidFill>
                <a:srgbClr val="0F172A"/>
              </a:solidFill>
            </a:endParaRPr>
          </a:p>
        </p:txBody>
      </p:sp>
      <p:sp>
        <p:nvSpPr>
          <p:cNvPr id="9" name="Text 2"/>
          <p:cNvSpPr/>
          <p:nvPr/>
        </p:nvSpPr>
        <p:spPr>
          <a:xfrm>
            <a:off x="485140" y="3849370"/>
            <a:ext cx="8759825" cy="3829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altLang="zh-CN" sz="1400" dirty="0">
                <a:solidFill>
                  <a:srgbClr val="0F172A"/>
                </a:solidFill>
              </a:rPr>
              <a:t>step4</a:t>
            </a:r>
            <a:r>
              <a:rPr lang="zh-CN" altLang="en-US" sz="1400" dirty="0">
                <a:solidFill>
                  <a:srgbClr val="0F172A"/>
                </a:solidFill>
              </a:rPr>
              <a:t>：启动</a:t>
            </a:r>
            <a:r>
              <a:rPr lang="en-US" altLang="zh-CN" sz="1400" dirty="0">
                <a:solidFill>
                  <a:srgbClr val="0F172A"/>
                </a:solidFill>
              </a:rPr>
              <a:t>simple_ont</a:t>
            </a:r>
            <a:r>
              <a:rPr lang="zh-CN" altLang="en-US" sz="1400" dirty="0">
                <a:solidFill>
                  <a:srgbClr val="0F172A"/>
                </a:solidFill>
              </a:rPr>
              <a:t>，</a:t>
            </a:r>
            <a:r>
              <a:rPr lang="en-US" altLang="zh-CN" sz="1400" dirty="0">
                <a:sym typeface="+mn-ea"/>
              </a:rPr>
              <a:t>sudo ./contrib/ports/unix/example_app/simple_ont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0" indent="0" algn="l">
              <a:lnSpc>
                <a:spcPts val="2800"/>
              </a:lnSpc>
              <a:buNone/>
            </a:pPr>
            <a:endParaRPr lang="zh-CN" altLang="en-US" sz="1400" dirty="0">
              <a:solidFill>
                <a:srgbClr val="0F172A"/>
              </a:solidFill>
            </a:endParaRPr>
          </a:p>
        </p:txBody>
      </p:sp>
      <p:sp>
        <p:nvSpPr>
          <p:cNvPr id="11" name="Text 2"/>
          <p:cNvSpPr/>
          <p:nvPr/>
        </p:nvSpPr>
        <p:spPr>
          <a:xfrm>
            <a:off x="485140" y="4232275"/>
            <a:ext cx="8759825" cy="3714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altLang="zh-CN" sz="1400" dirty="0">
                <a:solidFill>
                  <a:srgbClr val="0F172A"/>
                </a:solidFill>
              </a:rPr>
              <a:t>step5</a:t>
            </a:r>
            <a:r>
              <a:rPr lang="zh-CN" altLang="en-US" sz="1400" dirty="0">
                <a:solidFill>
                  <a:srgbClr val="0F172A"/>
                </a:solidFill>
              </a:rPr>
              <a:t>：新建终端并执行：</a:t>
            </a:r>
            <a:r>
              <a:rPr lang="en-US" altLang="zh-CN" sz="1400" dirty="0">
                <a:sym typeface="+mn-ea"/>
              </a:rPr>
              <a:t>python3 tcp_proxy.py</a:t>
            </a:r>
            <a:endParaRPr lang="zh-CN" altLang="en-US" sz="1400" dirty="0">
              <a:solidFill>
                <a:srgbClr val="0F172A"/>
              </a:solidFill>
            </a:endParaRPr>
          </a:p>
        </p:txBody>
      </p:sp>
      <p:sp>
        <p:nvSpPr>
          <p:cNvPr id="12" name="Text 2"/>
          <p:cNvSpPr/>
          <p:nvPr/>
        </p:nvSpPr>
        <p:spPr>
          <a:xfrm>
            <a:off x="485140" y="4667250"/>
            <a:ext cx="8759825" cy="37147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altLang="zh-CN" sz="1400" dirty="0">
                <a:solidFill>
                  <a:srgbClr val="0F172A"/>
                </a:solidFill>
              </a:rPr>
              <a:t>step6</a:t>
            </a:r>
            <a:r>
              <a:rPr lang="zh-CN" altLang="en-US" sz="1400" dirty="0">
                <a:solidFill>
                  <a:srgbClr val="0F172A"/>
                </a:solidFill>
              </a:rPr>
              <a:t>：刷新</a:t>
            </a:r>
            <a:r>
              <a:rPr lang="zh-CN" altLang="en-US" sz="1400" dirty="0">
                <a:solidFill>
                  <a:srgbClr val="0F172A"/>
                </a:solidFill>
              </a:rPr>
              <a:t>网页</a:t>
            </a:r>
            <a:endParaRPr lang="zh-CN" altLang="en-US" sz="1400" dirty="0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57213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971550"/>
            <a:ext cx="8001000" cy="142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2984804" cy="4357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0" b="1" dirty="0">
                <a:solidFill>
                  <a:srgbClr val="0F172A"/>
                </a:solidFill>
              </a:rPr>
              <a:t>AI辅助开发的关键技巧</a:t>
            </a:r>
            <a:endParaRPr lang="en-US" sz="2120" dirty="0"/>
          </a:p>
        </p:txBody>
      </p:sp>
      <p:sp>
        <p:nvSpPr>
          <p:cNvPr id="6" name="Text 3"/>
          <p:cNvSpPr/>
          <p:nvPr/>
        </p:nvSpPr>
        <p:spPr>
          <a:xfrm>
            <a:off x="7120114" y="728663"/>
            <a:ext cx="1452386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SECTION 07 // BEST PRACTICES</a:t>
            </a:r>
            <a:endParaRPr lang="en-US" sz="725" dirty="0"/>
          </a:p>
        </p:txBody>
      </p:sp>
      <p:sp>
        <p:nvSpPr>
          <p:cNvPr id="7" name="Shape 4"/>
          <p:cNvSpPr/>
          <p:nvPr/>
        </p:nvSpPr>
        <p:spPr>
          <a:xfrm>
            <a:off x="571500" y="1257300"/>
            <a:ext cx="8001000" cy="3457575"/>
          </a:xfrm>
          <a:prstGeom prst="rect">
            <a:avLst/>
          </a:prstGeom>
          <a:solidFill>
            <a:srgbClr val="000000">
              <a:alpha val="0"/>
            </a:srgbClr>
          </a:solidFill>
          <a:ln w="18288">
            <a:solidFill>
              <a:srgbClr val="0F172A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27487" y="1400175"/>
            <a:ext cx="523056" cy="623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5" b="1" dirty="0">
                <a:solidFill>
                  <a:srgbClr val="F1F5F9"/>
                </a:solidFill>
              </a:rPr>
              <a:t>01</a:t>
            </a:r>
            <a:endParaRPr lang="en-US" sz="3295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582341"/>
            <a:ext cx="150019" cy="17145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706" y="1543050"/>
            <a:ext cx="1371600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2563EB"/>
                </a:solidFill>
              </a:rPr>
              <a:t>精准的上下文提供</a:t>
            </a:r>
            <a:endParaRPr lang="en-US" sz="1195" dirty="0"/>
          </a:p>
        </p:txBody>
      </p:sp>
      <p:sp>
        <p:nvSpPr>
          <p:cNvPr id="11" name="Text 7"/>
          <p:cNvSpPr/>
          <p:nvPr/>
        </p:nvSpPr>
        <p:spPr>
          <a:xfrm>
            <a:off x="857250" y="1900238"/>
            <a:ext cx="3421856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</a:rPr>
              <a:t>AI不是读心者。提供完整的项目结构、相关代码文件路径、以及明确的技术约束是成功的一半。</a:t>
            </a:r>
            <a:endParaRPr lang="en-US" sz="835" dirty="0"/>
          </a:p>
        </p:txBody>
      </p:sp>
      <p:sp>
        <p:nvSpPr>
          <p:cNvPr id="12" name="Shape 8"/>
          <p:cNvSpPr/>
          <p:nvPr/>
        </p:nvSpPr>
        <p:spPr>
          <a:xfrm>
            <a:off x="857250" y="2373120"/>
            <a:ext cx="3421856" cy="230386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13" name="Shape 9"/>
          <p:cNvSpPr/>
          <p:nvPr/>
        </p:nvSpPr>
        <p:spPr>
          <a:xfrm>
            <a:off x="857250" y="2373120"/>
            <a:ext cx="14288" cy="230386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14" name="Text 10"/>
          <p:cNvSpPr/>
          <p:nvPr/>
        </p:nvSpPr>
        <p:spPr>
          <a:xfrm>
            <a:off x="857250" y="2373120"/>
            <a:ext cx="3421856" cy="230386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0" dirty="0">
                <a:solidFill>
                  <a:srgbClr val="0F172A"/>
                </a:solidFill>
              </a:rPr>
              <a:t>&gt; Provide: Project Tree, File Paths, Constraints</a:t>
            </a:r>
            <a:endParaRPr lang="en-US" sz="620" dirty="0"/>
          </a:p>
        </p:txBody>
      </p:sp>
      <p:sp>
        <p:nvSpPr>
          <p:cNvPr id="15" name="Text 11"/>
          <p:cNvSpPr/>
          <p:nvPr/>
        </p:nvSpPr>
        <p:spPr>
          <a:xfrm>
            <a:off x="7835131" y="1400175"/>
            <a:ext cx="523056" cy="623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5" b="1" dirty="0">
                <a:solidFill>
                  <a:srgbClr val="F1F5F9"/>
                </a:solidFill>
              </a:rPr>
              <a:t>02</a:t>
            </a:r>
            <a:endParaRPr lang="en-US" sz="3295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7750" y="1582341"/>
            <a:ext cx="192881" cy="17145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22069" y="1543050"/>
            <a:ext cx="1200150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2563EB"/>
                </a:solidFill>
              </a:rPr>
              <a:t>渐进式任务分解</a:t>
            </a:r>
            <a:endParaRPr lang="en-US" sz="1195" dirty="0"/>
          </a:p>
        </p:txBody>
      </p:sp>
      <p:sp>
        <p:nvSpPr>
          <p:cNvPr id="18" name="Text 13"/>
          <p:cNvSpPr/>
          <p:nvPr/>
        </p:nvSpPr>
        <p:spPr>
          <a:xfrm>
            <a:off x="4857750" y="1900238"/>
            <a:ext cx="3429000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</a:rPr>
              <a:t>不要试图一次性生成整个系统。将复杂需求拆解为可独立验证的小步骤（如：协议层 -&gt; 测试 -&gt; 界面）。</a:t>
            </a:r>
            <a:endParaRPr lang="en-US" sz="835" dirty="0"/>
          </a:p>
        </p:txBody>
      </p:sp>
      <p:sp>
        <p:nvSpPr>
          <p:cNvPr id="19" name="Shape 14"/>
          <p:cNvSpPr/>
          <p:nvPr/>
        </p:nvSpPr>
        <p:spPr>
          <a:xfrm>
            <a:off x="4857750" y="2373120"/>
            <a:ext cx="3429000" cy="230386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0" name="Shape 15"/>
          <p:cNvSpPr/>
          <p:nvPr/>
        </p:nvSpPr>
        <p:spPr>
          <a:xfrm>
            <a:off x="4857750" y="2373120"/>
            <a:ext cx="14288" cy="230386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21" name="Text 16"/>
          <p:cNvSpPr/>
          <p:nvPr/>
        </p:nvSpPr>
        <p:spPr>
          <a:xfrm>
            <a:off x="4857750" y="2373120"/>
            <a:ext cx="3429000" cy="230386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0" dirty="0">
                <a:solidFill>
                  <a:srgbClr val="0F172A"/>
                </a:solidFill>
              </a:rPr>
              <a:t>&gt; Strategy: Divide &amp; Conquer</a:t>
            </a:r>
            <a:endParaRPr lang="en-US" sz="620" dirty="0"/>
          </a:p>
        </p:txBody>
      </p:sp>
      <p:sp>
        <p:nvSpPr>
          <p:cNvPr id="22" name="Text 17"/>
          <p:cNvSpPr/>
          <p:nvPr/>
        </p:nvSpPr>
        <p:spPr>
          <a:xfrm>
            <a:off x="3827487" y="3128963"/>
            <a:ext cx="523056" cy="623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5" b="1" dirty="0">
                <a:solidFill>
                  <a:srgbClr val="F1F5F9"/>
                </a:solidFill>
              </a:rPr>
              <a:t>03</a:t>
            </a:r>
            <a:endParaRPr lang="en-US" sz="3295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311128"/>
            <a:ext cx="192881" cy="17145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21569" y="3271838"/>
            <a:ext cx="1543050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2563EB"/>
                </a:solidFill>
              </a:rPr>
              <a:t>参考实现的有效利用</a:t>
            </a:r>
            <a:endParaRPr lang="en-US" sz="1195" dirty="0"/>
          </a:p>
        </p:txBody>
      </p:sp>
      <p:sp>
        <p:nvSpPr>
          <p:cNvPr id="25" name="Text 19"/>
          <p:cNvSpPr/>
          <p:nvPr/>
        </p:nvSpPr>
        <p:spPr>
          <a:xfrm>
            <a:off x="857250" y="3629025"/>
            <a:ext cx="3421856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</a:rPr>
              <a:t>"Show, don't just tell." 提供高质量的参考代码（如PR #62），让AI学习现有的实现模式和编码规范。</a:t>
            </a:r>
            <a:endParaRPr lang="en-US" sz="835" dirty="0"/>
          </a:p>
        </p:txBody>
      </p:sp>
      <p:sp>
        <p:nvSpPr>
          <p:cNvPr id="26" name="Shape 20"/>
          <p:cNvSpPr/>
          <p:nvPr/>
        </p:nvSpPr>
        <p:spPr>
          <a:xfrm>
            <a:off x="857250" y="4101908"/>
            <a:ext cx="3421856" cy="230386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27" name="Shape 21"/>
          <p:cNvSpPr/>
          <p:nvPr/>
        </p:nvSpPr>
        <p:spPr>
          <a:xfrm>
            <a:off x="857250" y="4101908"/>
            <a:ext cx="14288" cy="230386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28" name="Text 22"/>
          <p:cNvSpPr/>
          <p:nvPr/>
        </p:nvSpPr>
        <p:spPr>
          <a:xfrm>
            <a:off x="857250" y="4101908"/>
            <a:ext cx="3421856" cy="230386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0" dirty="0">
                <a:solidFill>
                  <a:srgbClr val="0F172A"/>
                </a:solidFill>
              </a:rPr>
              <a:t>&gt; Input: Reference PRs / Code Patterns</a:t>
            </a:r>
            <a:endParaRPr lang="en-US" sz="620" dirty="0"/>
          </a:p>
        </p:txBody>
      </p:sp>
      <p:sp>
        <p:nvSpPr>
          <p:cNvPr id="29" name="Text 23"/>
          <p:cNvSpPr/>
          <p:nvPr/>
        </p:nvSpPr>
        <p:spPr>
          <a:xfrm>
            <a:off x="7835131" y="3128963"/>
            <a:ext cx="523056" cy="62329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4300"/>
              </a:lnSpc>
              <a:buNone/>
            </a:pPr>
            <a:r>
              <a:rPr lang="en-US" sz="3295" b="1" dirty="0">
                <a:solidFill>
                  <a:srgbClr val="F1F5F9"/>
                </a:solidFill>
              </a:rPr>
              <a:t>04</a:t>
            </a:r>
            <a:endParaRPr lang="en-US" sz="3295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7750" y="3311128"/>
            <a:ext cx="171450" cy="17145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100638" y="3271838"/>
            <a:ext cx="1542548" cy="2500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dirty="0">
                <a:solidFill>
                  <a:srgbClr val="2563EB"/>
                </a:solidFill>
              </a:rPr>
              <a:t>测试驱动开发 (TDD)</a:t>
            </a:r>
            <a:endParaRPr lang="en-US" sz="1195" dirty="0"/>
          </a:p>
        </p:txBody>
      </p:sp>
      <p:sp>
        <p:nvSpPr>
          <p:cNvPr id="32" name="Text 25"/>
          <p:cNvSpPr/>
          <p:nvPr/>
        </p:nvSpPr>
        <p:spPr>
          <a:xfrm>
            <a:off x="4857750" y="3629025"/>
            <a:ext cx="3429000" cy="36572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35" dirty="0">
                <a:solidFill>
                  <a:srgbClr val="475569"/>
                </a:solidFill>
              </a:rPr>
              <a:t>先让AI生成测试用例，明确功能预期，再生成实现代码。这能显著提高代码的一次性通过率。</a:t>
            </a:r>
            <a:endParaRPr lang="en-US" sz="835" dirty="0"/>
          </a:p>
        </p:txBody>
      </p:sp>
      <p:sp>
        <p:nvSpPr>
          <p:cNvPr id="33" name="Shape 26"/>
          <p:cNvSpPr/>
          <p:nvPr/>
        </p:nvSpPr>
        <p:spPr>
          <a:xfrm>
            <a:off x="4857750" y="4101908"/>
            <a:ext cx="3429000" cy="230386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4" name="Shape 27"/>
          <p:cNvSpPr/>
          <p:nvPr/>
        </p:nvSpPr>
        <p:spPr>
          <a:xfrm>
            <a:off x="4857750" y="4101908"/>
            <a:ext cx="14288" cy="230386"/>
          </a:xfrm>
          <a:prstGeom prst="rect">
            <a:avLst/>
          </a:prstGeom>
          <a:solidFill>
            <a:srgbClr val="F97316"/>
          </a:solidFill>
        </p:spPr>
      </p:sp>
      <p:sp>
        <p:nvSpPr>
          <p:cNvPr id="35" name="Text 28"/>
          <p:cNvSpPr/>
          <p:nvPr/>
        </p:nvSpPr>
        <p:spPr>
          <a:xfrm>
            <a:off x="4857750" y="4101908"/>
            <a:ext cx="3429000" cy="230386"/>
          </a:xfrm>
          <a:prstGeom prst="rect">
            <a:avLst/>
          </a:prstGeom>
          <a:noFill/>
        </p:spPr>
        <p:txBody>
          <a:bodyPr wrap="square" lIns="102108" tIns="68072" rIns="102108" bIns="68072" rtlCol="0" anchor="t">
            <a:spAutoFit/>
          </a:bodyPr>
          <a:lstStyle/>
          <a:p>
            <a:pPr marL="0" indent="0" algn="l">
              <a:lnSpc>
                <a:spcPts val="800"/>
              </a:lnSpc>
              <a:buNone/>
            </a:pPr>
            <a:r>
              <a:rPr lang="en-US" sz="620" dirty="0">
                <a:solidFill>
                  <a:srgbClr val="0F172A"/>
                </a:solidFill>
              </a:rPr>
              <a:t>&gt; Workflow: Test Case -&gt; Implementation</a:t>
            </a:r>
            <a:endParaRPr lang="en-US" sz="6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707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71500" y="428625"/>
            <a:ext cx="8001000" cy="557213"/>
          </a:xfrm>
          <a:prstGeom prst="rect">
            <a:avLst/>
          </a:prstGeom>
          <a:solidFill>
            <a:srgbClr val="000000">
              <a:alpha val="0"/>
            </a:srgbClr>
          </a:solidFill>
        </p:spPr>
      </p:sp>
      <p:sp>
        <p:nvSpPr>
          <p:cNvPr id="4" name="Shape 1"/>
          <p:cNvSpPr/>
          <p:nvPr/>
        </p:nvSpPr>
        <p:spPr>
          <a:xfrm>
            <a:off x="571500" y="971550"/>
            <a:ext cx="8001000" cy="14288"/>
          </a:xfrm>
          <a:prstGeom prst="rect">
            <a:avLst/>
          </a:prstGeom>
          <a:solidFill>
            <a:srgbClr val="0F172A"/>
          </a:solidFill>
        </p:spPr>
      </p:sp>
      <p:sp>
        <p:nvSpPr>
          <p:cNvPr id="5" name="Text 2"/>
          <p:cNvSpPr/>
          <p:nvPr/>
        </p:nvSpPr>
        <p:spPr>
          <a:xfrm>
            <a:off x="571500" y="428625"/>
            <a:ext cx="2668191" cy="4357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0" b="1" dirty="0">
                <a:solidFill>
                  <a:srgbClr val="0F172A"/>
                </a:solidFill>
              </a:rPr>
              <a:t>演练总结与经验分享</a:t>
            </a:r>
            <a:endParaRPr lang="en-US" sz="2120" dirty="0"/>
          </a:p>
        </p:txBody>
      </p:sp>
      <p:sp>
        <p:nvSpPr>
          <p:cNvPr id="6" name="Text 3"/>
          <p:cNvSpPr/>
          <p:nvPr/>
        </p:nvSpPr>
        <p:spPr>
          <a:xfrm>
            <a:off x="7396125" y="728663"/>
            <a:ext cx="1176375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SECTION 08 // SUMMARY</a:t>
            </a:r>
            <a:endParaRPr lang="en-US" sz="725" dirty="0"/>
          </a:p>
        </p:txBody>
      </p:sp>
      <p:sp>
        <p:nvSpPr>
          <p:cNvPr id="7" name="Shape 4"/>
          <p:cNvSpPr/>
          <p:nvPr/>
        </p:nvSpPr>
        <p:spPr>
          <a:xfrm>
            <a:off x="571500" y="1250156"/>
            <a:ext cx="3893344" cy="2021681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94" y="1446609"/>
            <a:ext cx="214313" cy="1714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1563" y="1428750"/>
            <a:ext cx="905694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2563EB"/>
                </a:solidFill>
              </a:rPr>
              <a:t>AI 的核心优势</a:t>
            </a:r>
            <a:endParaRPr lang="en-US" sz="985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094" y="1921669"/>
            <a:ext cx="75009" cy="1000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10828" y="1900238"/>
            <a:ext cx="2464594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dirty="0">
                <a:solidFill>
                  <a:srgbClr val="334155"/>
                </a:solidFill>
              </a:rPr>
              <a:t>快速理解与生成:</a:t>
            </a:r>
            <a:r>
              <a:rPr lang="en-US" sz="780" dirty="0">
                <a:solidFill>
                  <a:srgbClr val="334155"/>
                </a:solidFill>
              </a:rPr>
              <a:t>
</a:t>
            </a:r>
            <a:r>
              <a:rPr lang="en-US" sz="780" dirty="0">
                <a:solidFill>
                  <a:srgbClr val="334155"/>
                </a:solidFill>
              </a:rPr>
              <a:t> 秒级解析开源项目结构，生成符合规范的样板代码。</a:t>
            </a:r>
            <a:endParaRPr lang="en-US" sz="73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094" y="2350294"/>
            <a:ext cx="100013" cy="1000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35831" y="2328863"/>
            <a:ext cx="2527185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dirty="0">
                <a:solidFill>
                  <a:srgbClr val="334155"/>
                </a:solidFill>
              </a:rPr>
              <a:t>自动化测试构建:</a:t>
            </a:r>
            <a:r>
              <a:rPr lang="en-US" sz="780" dirty="0">
                <a:solidFill>
                  <a:srgbClr val="334155"/>
                </a:solidFill>
              </a:rPr>
              <a:t>
</a:t>
            </a:r>
            <a:r>
              <a:rPr lang="en-US" sz="780" dirty="0">
                <a:solidFill>
                  <a:srgbClr val="334155"/>
                </a:solidFill>
              </a:rPr>
              <a:t> 自动生成覆盖边界条件的LLT用例，提升代码健壮性。</a:t>
            </a:r>
            <a:endParaRPr lang="en-US" sz="735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094" y="2778919"/>
            <a:ext cx="100013" cy="100013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35831" y="2757488"/>
            <a:ext cx="2571750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dirty="0">
                <a:solidFill>
                  <a:srgbClr val="334155"/>
                </a:solidFill>
              </a:rPr>
              <a:t>处理重复性工作:</a:t>
            </a:r>
            <a:r>
              <a:rPr lang="en-US" sz="780" dirty="0">
                <a:solidFill>
                  <a:srgbClr val="334155"/>
                </a:solidFill>
              </a:rPr>
              <a:t>
</a:t>
            </a:r>
            <a:r>
              <a:rPr lang="en-US" sz="780" dirty="0">
                <a:solidFill>
                  <a:srgbClr val="334155"/>
                </a:solidFill>
              </a:rPr>
              <a:t> 高效完成前后端参数传递、配置持久化等标准化任务。</a:t>
            </a:r>
            <a:endParaRPr lang="en-US" sz="735" dirty="0"/>
          </a:p>
        </p:txBody>
      </p:sp>
      <p:sp>
        <p:nvSpPr>
          <p:cNvPr id="16" name="Shape 9"/>
          <p:cNvSpPr/>
          <p:nvPr/>
        </p:nvSpPr>
        <p:spPr>
          <a:xfrm>
            <a:off x="4679156" y="1250156"/>
            <a:ext cx="3893344" cy="2021681"/>
          </a:xfrm>
          <a:prstGeom prst="rect">
            <a:avLst/>
          </a:prstGeom>
          <a:solidFill>
            <a:srgbClr val="FFFFFF"/>
          </a:solidFill>
          <a:ln w="9144">
            <a:solidFill>
              <a:srgbClr val="CBD5E1"/>
            </a:solidFill>
            <a:prstDash val="solid"/>
          </a:ln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57750" y="1446609"/>
            <a:ext cx="150019" cy="17145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14925" y="1428750"/>
            <a:ext cx="1000125" cy="20716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985" b="1" dirty="0">
                <a:solidFill>
                  <a:srgbClr val="F97316"/>
                </a:solidFill>
              </a:rPr>
              <a:t>人类的关键价值</a:t>
            </a:r>
            <a:endParaRPr lang="en-US" sz="985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7750" y="1921669"/>
            <a:ext cx="100013" cy="100013"/>
          </a:xfrm>
          <a:prstGeom prst="rect">
            <a:avLst/>
          </a:prstGeom>
        </p:spPr>
      </p:pic>
      <p:sp>
        <p:nvSpPr>
          <p:cNvPr id="20" name="Text 11"/>
          <p:cNvSpPr/>
          <p:nvPr/>
        </p:nvSpPr>
        <p:spPr>
          <a:xfrm>
            <a:off x="5043488" y="1900238"/>
            <a:ext cx="2464594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dirty="0">
                <a:solidFill>
                  <a:srgbClr val="334155"/>
                </a:solidFill>
              </a:rPr>
              <a:t>架构与方案设计:</a:t>
            </a:r>
            <a:r>
              <a:rPr lang="en-US" sz="780" dirty="0">
                <a:solidFill>
                  <a:srgbClr val="334155"/>
                </a:solidFill>
              </a:rPr>
              <a:t>
</a:t>
            </a:r>
            <a:r>
              <a:rPr lang="en-US" sz="780" dirty="0">
                <a:solidFill>
                  <a:srgbClr val="334155"/>
                </a:solidFill>
              </a:rPr>
              <a:t> 定义技术路径，拆解复杂需求，把控整体架构方向。</a:t>
            </a:r>
            <a:endParaRPr lang="en-US" sz="735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57750" y="2350294"/>
            <a:ext cx="100013" cy="100013"/>
          </a:xfrm>
          <a:prstGeom prst="rect">
            <a:avLst/>
          </a:prstGeom>
        </p:spPr>
      </p:pic>
      <p:sp>
        <p:nvSpPr>
          <p:cNvPr id="22" name="Text 12"/>
          <p:cNvSpPr/>
          <p:nvPr/>
        </p:nvSpPr>
        <p:spPr>
          <a:xfrm>
            <a:off x="5043488" y="2328863"/>
            <a:ext cx="2357438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dirty="0">
                <a:solidFill>
                  <a:srgbClr val="334155"/>
                </a:solidFill>
              </a:rPr>
              <a:t>质量与安全把控:</a:t>
            </a:r>
            <a:r>
              <a:rPr lang="en-US" sz="780" dirty="0">
                <a:solidFill>
                  <a:srgbClr val="334155"/>
                </a:solidFill>
              </a:rPr>
              <a:t>
</a:t>
            </a:r>
            <a:r>
              <a:rPr lang="en-US" sz="780" dirty="0">
                <a:solidFill>
                  <a:srgbClr val="334155"/>
                </a:solidFill>
              </a:rPr>
              <a:t> 审查关键逻辑，制定测试策略，确保系统安全性。</a:t>
            </a:r>
            <a:endParaRPr lang="en-US" sz="735" dirty="0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57750" y="2778919"/>
            <a:ext cx="75009" cy="100013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5018484" y="2757488"/>
            <a:ext cx="2357438" cy="32146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735" b="1" dirty="0">
                <a:solidFill>
                  <a:srgbClr val="334155"/>
                </a:solidFill>
              </a:rPr>
              <a:t>复杂决策判断:</a:t>
            </a:r>
            <a:r>
              <a:rPr lang="en-US" sz="780" dirty="0">
                <a:solidFill>
                  <a:srgbClr val="334155"/>
                </a:solidFill>
              </a:rPr>
              <a:t>
</a:t>
            </a:r>
            <a:r>
              <a:rPr lang="en-US" sz="780" dirty="0">
                <a:solidFill>
                  <a:srgbClr val="334155"/>
                </a:solidFill>
              </a:rPr>
              <a:t> 处理非标准化问题，权衡技术实现的利弊与风险。</a:t>
            </a:r>
            <a:endParaRPr lang="en-US" sz="735" dirty="0"/>
          </a:p>
        </p:txBody>
      </p:sp>
      <p:sp>
        <p:nvSpPr>
          <p:cNvPr id="25" name="Shape 14"/>
          <p:cNvSpPr/>
          <p:nvPr/>
        </p:nvSpPr>
        <p:spPr>
          <a:xfrm>
            <a:off x="571500" y="3471863"/>
            <a:ext cx="8001000" cy="1243013"/>
          </a:xfrm>
          <a:prstGeom prst="rect">
            <a:avLst/>
          </a:prstGeom>
          <a:solidFill>
            <a:srgbClr val="F8FAFC"/>
          </a:solidFill>
          <a:ln w="9144">
            <a:solidFill>
              <a:srgbClr val="0F172A"/>
            </a:solidFill>
            <a:prstDash val="solid"/>
          </a:ln>
        </p:spPr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85813" y="3736181"/>
            <a:ext cx="160734" cy="128588"/>
          </a:xfrm>
          <a:prstGeom prst="rect">
            <a:avLst/>
          </a:prstGeom>
        </p:spPr>
      </p:pic>
      <p:sp>
        <p:nvSpPr>
          <p:cNvPr id="27" name="Text 15"/>
          <p:cNvSpPr/>
          <p:nvPr/>
        </p:nvSpPr>
        <p:spPr>
          <a:xfrm>
            <a:off x="1017984" y="3705820"/>
            <a:ext cx="1157315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F172A"/>
                </a:solidFill>
              </a:rPr>
              <a:t>协作模式与适用场景</a:t>
            </a:r>
            <a:endParaRPr lang="en-US" sz="885" dirty="0"/>
          </a:p>
        </p:txBody>
      </p:sp>
      <p:sp>
        <p:nvSpPr>
          <p:cNvPr id="28" name="Text 16"/>
          <p:cNvSpPr/>
          <p:nvPr/>
        </p:nvSpPr>
        <p:spPr>
          <a:xfrm>
            <a:off x="785813" y="3966567"/>
            <a:ext cx="3663488" cy="514350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780" dirty="0">
                <a:solidFill>
                  <a:srgbClr val="475569"/>
                </a:solidFill>
              </a:rPr>
              <a:t>终端定制类需求通常涉及协议实现、参数配置、界面集成等标准化工作，非常适合AI辅助开发。 通过实战演练，我们建立了"AI作为高效编码助手，人类作为架构师和质量守门人"的互补协作关系。</a:t>
            </a:r>
            <a:endParaRPr lang="en-US" sz="780" dirty="0"/>
          </a:p>
        </p:txBody>
      </p:sp>
      <p:sp>
        <p:nvSpPr>
          <p:cNvPr id="29" name="Shape 17"/>
          <p:cNvSpPr/>
          <p:nvPr/>
        </p:nvSpPr>
        <p:spPr>
          <a:xfrm>
            <a:off x="4735051" y="3891558"/>
            <a:ext cx="3623137" cy="403622"/>
          </a:xfrm>
          <a:prstGeom prst="rect">
            <a:avLst/>
          </a:prstGeom>
          <a:solidFill>
            <a:srgbClr val="FFFFFF"/>
          </a:solidFill>
          <a:ln w="9144">
            <a:solidFill>
              <a:srgbClr val="94A3B8"/>
            </a:solidFill>
            <a:prstDash val="dash"/>
          </a:ln>
        </p:spPr>
      </p:sp>
      <p:sp>
        <p:nvSpPr>
          <p:cNvPr id="30" name="Text 18"/>
          <p:cNvSpPr/>
          <p:nvPr/>
        </p:nvSpPr>
        <p:spPr>
          <a:xfrm>
            <a:off x="4927932" y="4025503"/>
            <a:ext cx="665987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2563EB"/>
                </a:solidFill>
              </a:rPr>
              <a:t>AI (CO-PILOT)</a:t>
            </a:r>
            <a:endParaRPr lang="en-US" sz="685" dirty="0"/>
          </a:p>
        </p:txBody>
      </p:sp>
      <p:sp>
        <p:nvSpPr>
          <p:cNvPr id="31" name="Text 19"/>
          <p:cNvSpPr/>
          <p:nvPr/>
        </p:nvSpPr>
        <p:spPr>
          <a:xfrm>
            <a:off x="5736794" y="4005858"/>
            <a:ext cx="7355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4A3B8"/>
                </a:solidFill>
              </a:rPr>
              <a:t>+</a:t>
            </a:r>
            <a:endParaRPr lang="en-US" sz="885" dirty="0"/>
          </a:p>
        </p:txBody>
      </p:sp>
      <p:sp>
        <p:nvSpPr>
          <p:cNvPr id="32" name="Text 20"/>
          <p:cNvSpPr/>
          <p:nvPr/>
        </p:nvSpPr>
        <p:spPr>
          <a:xfrm>
            <a:off x="5953227" y="4025503"/>
            <a:ext cx="1040253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F97316"/>
                </a:solidFill>
              </a:rPr>
              <a:t>HUMAN (ARCHITECT)</a:t>
            </a:r>
            <a:endParaRPr lang="en-US" sz="685" dirty="0"/>
          </a:p>
        </p:txBody>
      </p:sp>
      <p:sp>
        <p:nvSpPr>
          <p:cNvPr id="33" name="Text 21"/>
          <p:cNvSpPr/>
          <p:nvPr/>
        </p:nvSpPr>
        <p:spPr>
          <a:xfrm>
            <a:off x="7136355" y="4005858"/>
            <a:ext cx="7355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94A3B8"/>
                </a:solidFill>
              </a:rPr>
              <a:t>=</a:t>
            </a:r>
            <a:endParaRPr lang="en-US" sz="885" dirty="0"/>
          </a:p>
        </p:txBody>
      </p:sp>
      <p:sp>
        <p:nvSpPr>
          <p:cNvPr id="34" name="Text 22"/>
          <p:cNvSpPr/>
          <p:nvPr/>
        </p:nvSpPr>
        <p:spPr>
          <a:xfrm>
            <a:off x="7352788" y="4025503"/>
            <a:ext cx="826805" cy="13573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900"/>
              </a:lnSpc>
              <a:buNone/>
            </a:pPr>
            <a:r>
              <a:rPr lang="en-US" sz="685" b="1" dirty="0">
                <a:solidFill>
                  <a:srgbClr val="0F172A"/>
                </a:solidFill>
              </a:rPr>
              <a:t>MAX EFFICIENCY</a:t>
            </a:r>
            <a:endParaRPr lang="en-US" sz="68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714500" y="478631"/>
            <a:ext cx="5715000" cy="4186238"/>
          </a:xfrm>
          <a:prstGeom prst="rect">
            <a:avLst/>
          </a:prstGeom>
          <a:solidFill>
            <a:srgbClr val="FFFFFF"/>
          </a:solidFill>
          <a:ln w="27432">
            <a:solidFill>
              <a:srgbClr val="0F172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2143125" y="935831"/>
            <a:ext cx="4857750" cy="582216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800"/>
              </a:lnSpc>
              <a:buNone/>
            </a:pPr>
            <a:r>
              <a:rPr lang="en-US" sz="2860" b="1" kern="0" spc="-1" dirty="0">
                <a:solidFill>
                  <a:srgbClr val="0F172A"/>
                </a:solidFill>
              </a:rPr>
              <a:t>实战演练开始</a:t>
            </a:r>
            <a:endParaRPr lang="en-US" sz="2860" dirty="0"/>
          </a:p>
        </p:txBody>
      </p:sp>
      <p:sp>
        <p:nvSpPr>
          <p:cNvPr id="5" name="Text 2"/>
          <p:cNvSpPr/>
          <p:nvPr/>
        </p:nvSpPr>
        <p:spPr>
          <a:xfrm>
            <a:off x="2143125" y="1589484"/>
            <a:ext cx="4857750" cy="155377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835" kern="0" spc="2" dirty="0">
                <a:solidFill>
                  <a:srgbClr val="64748B"/>
                </a:solidFill>
              </a:rPr>
              <a:t>SYSTEM_READY // INITIATING_WORKSHOP</a:t>
            </a:r>
            <a:endParaRPr lang="en-US" sz="835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3125" y="2075259"/>
            <a:ext cx="128588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2378869" y="2044898"/>
            <a:ext cx="1103821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</a:rPr>
              <a:t>开发环境 (Dev Env)</a:t>
            </a:r>
            <a:endParaRPr lang="en-US" sz="940" dirty="0"/>
          </a:p>
        </p:txBody>
      </p:sp>
      <p:sp>
        <p:nvSpPr>
          <p:cNvPr id="8" name="Text 4"/>
          <p:cNvSpPr/>
          <p:nvPr/>
        </p:nvSpPr>
        <p:spPr>
          <a:xfrm>
            <a:off x="6661128" y="2052042"/>
            <a:ext cx="339747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[ OK ]</a:t>
            </a:r>
            <a:endParaRPr lang="en-US" sz="885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125" y="2400300"/>
            <a:ext cx="112514" cy="12858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362795" y="2369939"/>
            <a:ext cx="1069470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</a:rPr>
              <a:t>lwIP 源码 (Source)</a:t>
            </a:r>
            <a:endParaRPr lang="en-US" sz="940" dirty="0"/>
          </a:p>
        </p:txBody>
      </p:sp>
      <p:sp>
        <p:nvSpPr>
          <p:cNvPr id="11" name="Text 6"/>
          <p:cNvSpPr/>
          <p:nvPr/>
        </p:nvSpPr>
        <p:spPr>
          <a:xfrm>
            <a:off x="6327967" y="2377083"/>
            <a:ext cx="67290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[ LOADED ]</a:t>
            </a:r>
            <a:endParaRPr lang="en-US" sz="885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3125" y="2725341"/>
            <a:ext cx="144661" cy="12858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2394942" y="2694980"/>
            <a:ext cx="1215554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</a:rPr>
              <a:t>Web 界面 (Interface)</a:t>
            </a:r>
            <a:endParaRPr lang="en-US" sz="940" dirty="0"/>
          </a:p>
        </p:txBody>
      </p:sp>
      <p:sp>
        <p:nvSpPr>
          <p:cNvPr id="14" name="Text 8"/>
          <p:cNvSpPr/>
          <p:nvPr/>
        </p:nvSpPr>
        <p:spPr>
          <a:xfrm>
            <a:off x="6342757" y="2702123"/>
            <a:ext cx="658118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[ ONLINE ]</a:t>
            </a:r>
            <a:endParaRPr lang="en-US" sz="885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3125" y="3050381"/>
            <a:ext cx="128588" cy="12858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378869" y="3020020"/>
            <a:ext cx="1088389" cy="18930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940" dirty="0">
                <a:solidFill>
                  <a:srgbClr val="334155"/>
                </a:solidFill>
              </a:rPr>
              <a:t>演练任务 (Mission)</a:t>
            </a:r>
            <a:endParaRPr lang="en-US" sz="940" dirty="0"/>
          </a:p>
        </p:txBody>
      </p:sp>
      <p:sp>
        <p:nvSpPr>
          <p:cNvPr id="17" name="Text 10"/>
          <p:cNvSpPr/>
          <p:nvPr/>
        </p:nvSpPr>
        <p:spPr>
          <a:xfrm>
            <a:off x="6429152" y="3027164"/>
            <a:ext cx="571723" cy="175022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22C55E"/>
                </a:solidFill>
              </a:rPr>
              <a:t>[ READY ]</a:t>
            </a:r>
            <a:endParaRPr lang="en-US" sz="885" dirty="0"/>
          </a:p>
        </p:txBody>
      </p:sp>
      <p:sp>
        <p:nvSpPr>
          <p:cNvPr id="18" name="Shape 11"/>
          <p:cNvSpPr/>
          <p:nvPr/>
        </p:nvSpPr>
        <p:spPr>
          <a:xfrm>
            <a:off x="3428107" y="3473648"/>
            <a:ext cx="2287786" cy="433983"/>
          </a:xfrm>
          <a:prstGeom prst="rect">
            <a:avLst/>
          </a:prstGeom>
          <a:solidFill>
            <a:srgbClr val="0F172A"/>
          </a:solidFill>
          <a:ln w="18288">
            <a:solidFill>
              <a:srgbClr val="F97316"/>
            </a:solidFill>
            <a:prstDash val="solid"/>
          </a:ln>
        </p:spPr>
      </p:sp>
      <p:sp>
        <p:nvSpPr>
          <p:cNvPr id="19" name="Text 12"/>
          <p:cNvSpPr/>
          <p:nvPr/>
        </p:nvSpPr>
        <p:spPr>
          <a:xfrm>
            <a:off x="3428107" y="3473648"/>
            <a:ext cx="2287786" cy="433983"/>
          </a:xfrm>
          <a:prstGeom prst="rect">
            <a:avLst/>
          </a:prstGeom>
          <a:noFill/>
        </p:spPr>
        <p:txBody>
          <a:bodyPr wrap="square" lIns="340233" tIns="102108" rIns="340233" bIns="102108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95" b="1" kern="0" spc="1" dirty="0">
                <a:solidFill>
                  <a:srgbClr val="FFFFFF"/>
                </a:solidFill>
              </a:rPr>
              <a:t>EXECUTE PHASE 01</a:t>
            </a:r>
            <a:endParaRPr lang="en-US" sz="1195" dirty="0"/>
          </a:p>
        </p:txBody>
      </p:sp>
      <p:sp>
        <p:nvSpPr>
          <p:cNvPr id="20" name="Text 13"/>
          <p:cNvSpPr/>
          <p:nvPr/>
        </p:nvSpPr>
        <p:spPr>
          <a:xfrm>
            <a:off x="3771900" y="4036219"/>
            <a:ext cx="1600200" cy="30003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25" dirty="0">
                <a:solidFill>
                  <a:srgbClr val="64748B"/>
                </a:solidFill>
              </a:rPr>
              <a:t>请按照三步路径逐步执行开发任务。</a:t>
            </a:r>
            <a:r>
              <a:rPr lang="en-US" sz="725" dirty="0">
                <a:solidFill>
                  <a:srgbClr val="64748B"/>
                </a:solidFill>
              </a:rPr>
              <a:t>
</a:t>
            </a:r>
            <a:r>
              <a:rPr lang="en-US" sz="725" dirty="0">
                <a:solidFill>
                  <a:srgbClr val="64748B"/>
                </a:solidFill>
              </a:rPr>
              <a:t> 演练过程中欢迎随时提问和讨论。</a:t>
            </a:r>
            <a:endParaRPr lang="en-US" sz="7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6387</Words>
  <Application>WPS 演示</Application>
  <PresentationFormat>On-screen Show (16:9)</PresentationFormat>
  <Paragraphs>370</Paragraphs>
  <Slides>17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宋体</vt:lpstr>
      <vt:lpstr>Wingdings</vt:lpstr>
      <vt:lpstr>-apple-system</vt:lpstr>
      <vt:lpstr>Segoe Print</vt:lpstr>
      <vt:lpstr>Calibri</vt:lpstr>
      <vt:lpstr>微软雅黑</vt:lpstr>
      <vt:lpstr>Arial Unicode MS</vt:lpstr>
      <vt:lpstr>等线</vt:lpstr>
      <vt:lpstr>-apple-system</vt:lpstr>
      <vt:lpstr>Be Happy</vt:lpstr>
      <vt:lpstr>Consolas</vt:lpstr>
      <vt:lpstr>等线 Light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Tyrion.C</cp:lastModifiedBy>
  <cp:revision>42</cp:revision>
  <dcterms:created xsi:type="dcterms:W3CDTF">2026-01-15T02:02:00Z</dcterms:created>
  <dcterms:modified xsi:type="dcterms:W3CDTF">2026-01-16T09:15:16Z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7A0B9B3ECCC54115A661FF7EA0739BD8_12</vt:lpwstr>
  </property>
</Properties>
</file>